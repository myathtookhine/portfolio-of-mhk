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e682a19e-4c6a-dfa4-7032-f51b4acb47b4}">
          <p14:sldIdLst>
            <p14:sldId id="256"/>
            <p14:sldId id="257"/>
            <p14:sldId id="258"/>
          </p14:sldIdLst>
        </p14:section>
        <p14:section name="Selected work" id="{b3da9fd9-fd4c-dcab-439e-48c8d7e3e1ff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How I work" id="{dfc761c2-4a7f-0dd4-3a74-e3260b5796c8}">
          <p14:sldIdLst>
            <p14:sldId id="266"/>
          </p14:sldIdLst>
        </p14:section>
        <p14:section name="Background" id="{983eb8f3-34e4-813b-5b13-4bbe8897c7e2}">
          <p14:sldIdLst>
            <p14:sldId id="267"/>
            <p14:sldId id="268"/>
            <p14:sldId id="269"/>
          </p14:sldIdLst>
        </p14:section>
        <p14:section name="Contact" id="{1667bf25-0f21-c71c-4a28-0273dbe8ce73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 — I am Myat Htoo Khaing, a product designer with nine years of experience. What makes me different is that I do not stop at Figma: I ship the design in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years, four platforms, and work that is in daily use — Axtra POS runs in more than ten restaurants in Yangon.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are the through-line of every project in this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Enterprise tools, mostly: the kind of product where the hard part is making a complicated operation feel simple.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Axtra POS runs a restaurant’s daily work: orders, menus, inventory, reports. I worked with the operations team as well as the PO and PM, and fixed responsive layouts directly in the code rather than handing over mockups.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screen was checked on web, desktop, tablet and phone, and fixed until the experience held up on all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used Antigravity and Gemini as prototyping partners, so the client reacted to working screens rather than static mockups. I designed the flows the PRD left open: storm mode, EV control and battery configuration.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animated energy-flow lines on the home screen come in three display modes; the weather screen uses a live OpenWeather integration.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of these are freelance work from the past year, several of them end-to-end: admin console plus the companion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common thread: I stay close to the people who use the thing, and close to the code that ships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years at Online Merchant Solutions, from senior designer to lead designer and frontend developer, and the last year freelance.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CSS is where I am strongest — it is what lets me finish a design in the product instead of describing it in a spec.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The portfolio has the full case studies, and the résumé is downloadable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103120"/>
            <a:ext cx="66751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71600" y="2926080"/>
            <a:ext cx="94183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Myat Htoo Khaing  ·  Product Designer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kicker"/>
          <p:cNvSpPr txBox="1"/>
          <p:nvPr/>
        </p:nvSpPr>
        <p:spPr>
          <a:xfrm>
            <a:off x="822960" y="169164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DESIGN PORTFOLIO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210312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Myat Htoo Khaing</a:t>
            </a:r>
            <a:endParaRPr lang="en-US" sz="4800" dirty="0"/>
          </a:p>
        </p:txBody>
      </p:sp>
      <p:sp>
        <p:nvSpPr>
          <p:cNvPr id="4" name="cover-sub"/>
          <p:cNvSpPr txBox="1"/>
          <p:nvPr/>
        </p:nvSpPr>
        <p:spPr>
          <a:xfrm>
            <a:off x="822960" y="340156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Designer who ships in code</a:t>
            </a:r>
            <a:endParaRPr lang="en-US" sz="2000" dirty="0"/>
          </a:p>
        </p:txBody>
      </p:sp>
      <p:sp>
        <p:nvSpPr>
          <p:cNvPr id="5" name="cover-meta"/>
          <p:cNvSpPr txBox="1"/>
          <p:nvPr/>
        </p:nvSpPr>
        <p:spPr>
          <a:xfrm>
            <a:off x="822960" y="397764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9+ years  ·  Bangkok, GMT+7  ·  Open to remote, contract &amp; freelance</a:t>
            </a:r>
            <a:endParaRPr lang="en-US" sz="1300" dirty="0"/>
          </a:p>
        </p:txBody>
      </p:sp>
      <p:sp>
        <p:nvSpPr>
          <p:cNvPr id="6" name="cover-url"/>
          <p:cNvSpPr txBox="1"/>
          <p:nvPr/>
        </p:nvSpPr>
        <p:spPr>
          <a:xfrm>
            <a:off x="822960" y="437083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myathtookhine.github.io/portfolio-of-mhk</a:t>
            </a:r>
            <a:endParaRPr lang="en-US" sz="1200" dirty="0"/>
          </a:p>
        </p:txBody>
      </p:sp>
      <p:sp>
        <p:nvSpPr>
          <p:cNvPr id="7" name="cover-mark-a"/>
          <p:cNvSpPr/>
          <p:nvPr/>
        </p:nvSpPr>
        <p:spPr>
          <a:xfrm>
            <a:off x="822960" y="5193792"/>
            <a:ext cx="82296" cy="822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cover-mark-b"/>
          <p:cNvSpPr/>
          <p:nvPr/>
        </p:nvSpPr>
        <p:spPr>
          <a:xfrm>
            <a:off x="941832" y="5111496"/>
            <a:ext cx="82296" cy="822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cover-mark-c"/>
          <p:cNvSpPr/>
          <p:nvPr/>
        </p:nvSpPr>
        <p:spPr>
          <a:xfrm>
            <a:off x="1060704" y="5029200"/>
            <a:ext cx="82296" cy="822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portrait-frame"/>
          <p:cNvSpPr/>
          <p:nvPr/>
        </p:nvSpPr>
        <p:spPr>
          <a:xfrm>
            <a:off x="8321040" y="1590741"/>
            <a:ext cx="3108960" cy="3859399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11" name="portrait" descr="C:\Users\USER\AppData\Local\Temp\claude\d--MHKFiles-portfolio-of-mhk\8f60aedb-67f2-4b98-80ae-89b16b6d710a\scratchpad\deck-img\portra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499301"/>
            <a:ext cx="3108960" cy="38593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4980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product designer who ships in code</a:t>
            </a:r>
            <a:endParaRPr lang="en-US" sz="3200" dirty="0"/>
          </a:p>
        </p:txBody>
      </p:sp>
      <p:sp>
        <p:nvSpPr>
          <p:cNvPr id="4" name="intro"/>
          <p:cNvSpPr txBox="1"/>
          <p:nvPr/>
        </p:nvSpPr>
        <p:spPr>
          <a:xfrm>
            <a:off x="548640" y="169164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9+ years I've turned complex business needs — restaurant POS, logistics, ticketing — into clear, responsive products, from Figma all the way to production-ready UI.</a:t>
            </a:r>
            <a:endParaRPr lang="en-US" sz="1500" dirty="0"/>
          </a:p>
        </p:txBody>
      </p:sp>
      <p:sp>
        <p:nvSpPr>
          <p:cNvPr id="5" name="fact-dot-0"/>
          <p:cNvSpPr/>
          <p:nvPr/>
        </p:nvSpPr>
        <p:spPr>
          <a:xfrm>
            <a:off x="548640" y="3136392"/>
            <a:ext cx="9144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fact-label-0"/>
          <p:cNvSpPr txBox="1"/>
          <p:nvPr/>
        </p:nvSpPr>
        <p:spPr>
          <a:xfrm>
            <a:off x="786384" y="30632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FOCUS</a:t>
            </a:r>
            <a:endParaRPr lang="en-US" sz="1000" dirty="0"/>
          </a:p>
        </p:txBody>
      </p:sp>
      <p:sp>
        <p:nvSpPr>
          <p:cNvPr id="7" name="fact-value-0"/>
          <p:cNvSpPr txBox="1"/>
          <p:nvPr/>
        </p:nvSpPr>
        <p:spPr>
          <a:xfrm>
            <a:off x="786384" y="33192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Enterprise, POS, logistics</a:t>
            </a:r>
            <a:endParaRPr lang="en-US" sz="1400" dirty="0"/>
          </a:p>
        </p:txBody>
      </p:sp>
      <p:sp>
        <p:nvSpPr>
          <p:cNvPr id="8" name="fact-dot-1"/>
          <p:cNvSpPr/>
          <p:nvPr/>
        </p:nvSpPr>
        <p:spPr>
          <a:xfrm>
            <a:off x="548640" y="3849624"/>
            <a:ext cx="9144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fact-label-1"/>
          <p:cNvSpPr txBox="1"/>
          <p:nvPr/>
        </p:nvSpPr>
        <p:spPr>
          <a:xfrm>
            <a:off x="786384" y="37764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PLATFORMS</a:t>
            </a:r>
            <a:endParaRPr lang="en-US" sz="1000" dirty="0"/>
          </a:p>
        </p:txBody>
      </p:sp>
      <p:sp>
        <p:nvSpPr>
          <p:cNvPr id="10" name="fact-value-1"/>
          <p:cNvSpPr txBox="1"/>
          <p:nvPr/>
        </p:nvSpPr>
        <p:spPr>
          <a:xfrm>
            <a:off x="786384" y="403250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tablet, iOS &amp; Android</a:t>
            </a:r>
            <a:endParaRPr lang="en-US" sz="1400" dirty="0"/>
          </a:p>
        </p:txBody>
      </p:sp>
      <p:sp>
        <p:nvSpPr>
          <p:cNvPr id="11" name="fact-dot-2"/>
          <p:cNvSpPr/>
          <p:nvPr/>
        </p:nvSpPr>
        <p:spPr>
          <a:xfrm>
            <a:off x="548640" y="4562856"/>
            <a:ext cx="9144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fact-label-2"/>
          <p:cNvSpPr txBox="1"/>
          <p:nvPr/>
        </p:nvSpPr>
        <p:spPr>
          <a:xfrm>
            <a:off x="786384" y="448970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</a:t>
            </a:r>
            <a:endParaRPr lang="en-US" sz="1000" dirty="0"/>
          </a:p>
        </p:txBody>
      </p:sp>
      <p:sp>
        <p:nvSpPr>
          <p:cNvPr id="13" name="fact-value-2"/>
          <p:cNvSpPr txBox="1"/>
          <p:nvPr/>
        </p:nvSpPr>
        <p:spPr>
          <a:xfrm>
            <a:off x="786384" y="474573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+ React / Tailwind</a:t>
            </a:r>
            <a:endParaRPr lang="en-US" sz="1400" dirty="0"/>
          </a:p>
        </p:txBody>
      </p:sp>
      <p:sp>
        <p:nvSpPr>
          <p:cNvPr id="14" name="fact-dot-3"/>
          <p:cNvSpPr/>
          <p:nvPr/>
        </p:nvSpPr>
        <p:spPr>
          <a:xfrm>
            <a:off x="548640" y="5276088"/>
            <a:ext cx="9144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5" name="fact-label-3"/>
          <p:cNvSpPr txBox="1"/>
          <p:nvPr/>
        </p:nvSpPr>
        <p:spPr>
          <a:xfrm>
            <a:off x="786384" y="520293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LANGUAGES</a:t>
            </a:r>
            <a:endParaRPr lang="en-US" sz="1000" dirty="0"/>
          </a:p>
        </p:txBody>
      </p:sp>
      <p:sp>
        <p:nvSpPr>
          <p:cNvPr id="16" name="fact-value-3"/>
          <p:cNvSpPr txBox="1"/>
          <p:nvPr/>
        </p:nvSpPr>
        <p:spPr>
          <a:xfrm>
            <a:off x="786384" y="54589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(professional), Burmese (native)</a:t>
            </a:r>
            <a:endParaRPr lang="en-US" sz="1400" dirty="0"/>
          </a:p>
        </p:txBody>
      </p:sp>
      <p:sp>
        <p:nvSpPr>
          <p:cNvPr id="17" name="stat-0"/>
          <p:cNvSpPr/>
          <p:nvPr/>
        </p:nvSpPr>
        <p:spPr>
          <a:xfrm>
            <a:off x="6949440" y="1691640"/>
            <a:ext cx="4690872" cy="123444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8" name="stat-n-0"/>
          <p:cNvSpPr txBox="1"/>
          <p:nvPr/>
        </p:nvSpPr>
        <p:spPr>
          <a:xfrm>
            <a:off x="7223760" y="1856232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9+</a:t>
            </a:r>
            <a:endParaRPr lang="en-US" sz="4000" dirty="0"/>
          </a:p>
        </p:txBody>
      </p:sp>
      <p:sp>
        <p:nvSpPr>
          <p:cNvPr id="19" name="stat-label-0"/>
          <p:cNvSpPr txBox="1"/>
          <p:nvPr/>
        </p:nvSpPr>
        <p:spPr>
          <a:xfrm>
            <a:off x="8595360" y="1856232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experience</a:t>
            </a:r>
            <a:endParaRPr lang="en-US" sz="1300" dirty="0"/>
          </a:p>
        </p:txBody>
      </p:sp>
      <p:sp>
        <p:nvSpPr>
          <p:cNvPr id="20" name="stat-1"/>
          <p:cNvSpPr/>
          <p:nvPr/>
        </p:nvSpPr>
        <p:spPr>
          <a:xfrm>
            <a:off x="6949440" y="3154680"/>
            <a:ext cx="4690872" cy="123444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1" name="stat-n-1"/>
          <p:cNvSpPr txBox="1"/>
          <p:nvPr/>
        </p:nvSpPr>
        <p:spPr>
          <a:xfrm>
            <a:off x="7223760" y="3319272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22" name="stat-label-1"/>
          <p:cNvSpPr txBox="1"/>
          <p:nvPr/>
        </p:nvSpPr>
        <p:spPr>
          <a:xfrm>
            <a:off x="8595360" y="3319272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Platforms: web, tablet, iOS, Android</a:t>
            </a:r>
            <a:endParaRPr lang="en-US" sz="1300" dirty="0"/>
          </a:p>
        </p:txBody>
      </p:sp>
      <p:sp>
        <p:nvSpPr>
          <p:cNvPr id="23" name="stat-2"/>
          <p:cNvSpPr/>
          <p:nvPr/>
        </p:nvSpPr>
        <p:spPr>
          <a:xfrm>
            <a:off x="6949440" y="4617720"/>
            <a:ext cx="4690872" cy="123444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4" name="stat-n-2"/>
          <p:cNvSpPr txBox="1"/>
          <p:nvPr/>
        </p:nvSpPr>
        <p:spPr>
          <a:xfrm>
            <a:off x="7223760" y="4782312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</a:t>
            </a:r>
            <a:endParaRPr lang="en-US" sz="4000" dirty="0"/>
          </a:p>
        </p:txBody>
      </p:sp>
      <p:sp>
        <p:nvSpPr>
          <p:cNvPr id="25" name="stat-label-2"/>
          <p:cNvSpPr txBox="1"/>
          <p:nvPr/>
        </p:nvSpPr>
        <p:spPr>
          <a:xfrm>
            <a:off x="8595360" y="4782312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running Axtra POS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 BRING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4980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things I am hired for</a:t>
            </a:r>
            <a:endParaRPr lang="en-US" sz="3200" dirty="0"/>
          </a:p>
        </p:txBody>
      </p:sp>
      <p:sp>
        <p:nvSpPr>
          <p:cNvPr id="4" name="bring-0"/>
          <p:cNvSpPr/>
          <p:nvPr/>
        </p:nvSpPr>
        <p:spPr>
          <a:xfrm>
            <a:off x="548640" y="1737360"/>
            <a:ext cx="5358384" cy="192024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5" name="bring-mark-0-a"/>
          <p:cNvSpPr/>
          <p:nvPr/>
        </p:nvSpPr>
        <p:spPr>
          <a:xfrm>
            <a:off x="914400" y="2221992"/>
            <a:ext cx="82296" cy="822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bring-mark-0-b"/>
          <p:cNvSpPr/>
          <p:nvPr/>
        </p:nvSpPr>
        <p:spPr>
          <a:xfrm>
            <a:off x="1033272" y="2139696"/>
            <a:ext cx="82296" cy="822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bring-mark-0-c"/>
          <p:cNvSpPr/>
          <p:nvPr/>
        </p:nvSpPr>
        <p:spPr>
          <a:xfrm>
            <a:off x="1152144" y="2057400"/>
            <a:ext cx="82296" cy="822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bring-title-0"/>
          <p:cNvSpPr txBox="1"/>
          <p:nvPr/>
        </p:nvSpPr>
        <p:spPr>
          <a:xfrm>
            <a:off x="914400" y="2395728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flows, made simple</a:t>
            </a:r>
            <a:endParaRPr lang="en-US" sz="1700" dirty="0"/>
          </a:p>
        </p:txBody>
      </p:sp>
      <p:sp>
        <p:nvSpPr>
          <p:cNvPr id="9" name="bring-text-0"/>
          <p:cNvSpPr txBox="1"/>
          <p:nvPr/>
        </p:nvSpPr>
        <p:spPr>
          <a:xfrm>
            <a:off x="914400" y="2816352"/>
            <a:ext cx="4626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POS, delivery logistics, ticketing and museum management turned into clear, usable screens.</a:t>
            </a:r>
            <a:endParaRPr lang="en-US" sz="1300" dirty="0"/>
          </a:p>
        </p:txBody>
      </p:sp>
      <p:sp>
        <p:nvSpPr>
          <p:cNvPr id="10" name="bring-1"/>
          <p:cNvSpPr/>
          <p:nvPr/>
        </p:nvSpPr>
        <p:spPr>
          <a:xfrm>
            <a:off x="6281928" y="1737360"/>
            <a:ext cx="5358384" cy="192024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1" name="bring-mark-1-a"/>
          <p:cNvSpPr/>
          <p:nvPr/>
        </p:nvSpPr>
        <p:spPr>
          <a:xfrm>
            <a:off x="6647688" y="2221992"/>
            <a:ext cx="82296" cy="822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bring-mark-1-b"/>
          <p:cNvSpPr/>
          <p:nvPr/>
        </p:nvSpPr>
        <p:spPr>
          <a:xfrm>
            <a:off x="6766560" y="2139696"/>
            <a:ext cx="82296" cy="822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bring-mark-1-c"/>
          <p:cNvSpPr/>
          <p:nvPr/>
        </p:nvSpPr>
        <p:spPr>
          <a:xfrm>
            <a:off x="6885432" y="2057400"/>
            <a:ext cx="82296" cy="822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bring-title-1"/>
          <p:cNvSpPr txBox="1"/>
          <p:nvPr/>
        </p:nvSpPr>
        <p:spPr>
          <a:xfrm>
            <a:off x="6647688" y="2395728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to the last pixel</a:t>
            </a:r>
            <a:endParaRPr lang="en-US" sz="1700" dirty="0"/>
          </a:p>
        </p:txBody>
      </p:sp>
      <p:sp>
        <p:nvSpPr>
          <p:cNvPr id="15" name="bring-text-1"/>
          <p:cNvSpPr txBox="1"/>
          <p:nvPr/>
        </p:nvSpPr>
        <p:spPr>
          <a:xfrm>
            <a:off x="6647688" y="2816352"/>
            <a:ext cx="4626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desktop, tablet and phone. On Axtra POS I checked and fixed the whole product, directly in the code.</a:t>
            </a:r>
            <a:endParaRPr lang="en-US" sz="1300" dirty="0"/>
          </a:p>
        </p:txBody>
      </p:sp>
      <p:sp>
        <p:nvSpPr>
          <p:cNvPr id="16" name="bring-2"/>
          <p:cNvSpPr/>
          <p:nvPr/>
        </p:nvSpPr>
        <p:spPr>
          <a:xfrm>
            <a:off x="548640" y="3886200"/>
            <a:ext cx="5358384" cy="192024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7" name="bring-mark-2-a"/>
          <p:cNvSpPr/>
          <p:nvPr/>
        </p:nvSpPr>
        <p:spPr>
          <a:xfrm>
            <a:off x="914400" y="4370832"/>
            <a:ext cx="82296" cy="822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bring-mark-2-b"/>
          <p:cNvSpPr/>
          <p:nvPr/>
        </p:nvSpPr>
        <p:spPr>
          <a:xfrm>
            <a:off x="1033272" y="4288536"/>
            <a:ext cx="82296" cy="822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9" name="bring-mark-2-c"/>
          <p:cNvSpPr/>
          <p:nvPr/>
        </p:nvSpPr>
        <p:spPr>
          <a:xfrm>
            <a:off x="1152144" y="4206240"/>
            <a:ext cx="82296" cy="822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bring-title-2"/>
          <p:cNvSpPr txBox="1"/>
          <p:nvPr/>
        </p:nvSpPr>
        <p:spPr>
          <a:xfrm>
            <a:off x="914400" y="4544568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that ships in code</a:t>
            </a:r>
            <a:endParaRPr lang="en-US" sz="1700" dirty="0"/>
          </a:p>
        </p:txBody>
      </p:sp>
      <p:sp>
        <p:nvSpPr>
          <p:cNvPr id="21" name="bring-text-2"/>
          <p:cNvSpPr txBox="1"/>
          <p:nvPr/>
        </p:nvSpPr>
        <p:spPr>
          <a:xfrm>
            <a:off x="914400" y="4965192"/>
            <a:ext cx="4626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CSS, plus React, TypeScript and Tailwind. At OMS I built the design system inside the codebase.</a:t>
            </a:r>
            <a:endParaRPr lang="en-US" sz="1300" dirty="0"/>
          </a:p>
        </p:txBody>
      </p:sp>
      <p:sp>
        <p:nvSpPr>
          <p:cNvPr id="22" name="bring-3"/>
          <p:cNvSpPr/>
          <p:nvPr/>
        </p:nvSpPr>
        <p:spPr>
          <a:xfrm>
            <a:off x="6281928" y="3886200"/>
            <a:ext cx="5358384" cy="192024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3" name="bring-mark-3-a"/>
          <p:cNvSpPr/>
          <p:nvPr/>
        </p:nvSpPr>
        <p:spPr>
          <a:xfrm>
            <a:off x="6647688" y="4370832"/>
            <a:ext cx="82296" cy="822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4" name="bring-mark-3-b"/>
          <p:cNvSpPr/>
          <p:nvPr/>
        </p:nvSpPr>
        <p:spPr>
          <a:xfrm>
            <a:off x="6766560" y="4288536"/>
            <a:ext cx="82296" cy="822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bring-mark-3-c"/>
          <p:cNvSpPr/>
          <p:nvPr/>
        </p:nvSpPr>
        <p:spPr>
          <a:xfrm>
            <a:off x="6885432" y="4206240"/>
            <a:ext cx="82296" cy="822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6" name="bring-title-3"/>
          <p:cNvSpPr txBox="1"/>
          <p:nvPr/>
        </p:nvSpPr>
        <p:spPr>
          <a:xfrm>
            <a:off x="6647688" y="4544568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AI-accelerated prototyping</a:t>
            </a:r>
            <a:endParaRPr lang="en-US" sz="1700" dirty="0"/>
          </a:p>
        </p:txBody>
      </p:sp>
      <p:sp>
        <p:nvSpPr>
          <p:cNvPr id="27" name="bring-text-3"/>
          <p:cNvSpPr txBox="1"/>
          <p:nvPr/>
        </p:nvSpPr>
        <p:spPr>
          <a:xfrm>
            <a:off x="6647688" y="4965192"/>
            <a:ext cx="4626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a prototyping partner: a full app redesign in two weeks, accepted by the client.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no"/>
          <p:cNvSpPr txBox="1"/>
          <p:nvPr/>
        </p:nvSpPr>
        <p:spPr>
          <a:xfrm>
            <a:off x="1371600" y="21488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5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371600" y="292608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work</a:t>
            </a:r>
            <a:endParaRPr lang="en-US" sz="4000" dirty="0"/>
          </a:p>
        </p:txBody>
      </p:sp>
      <p:sp>
        <p:nvSpPr>
          <p:cNvPr id="4" name="section-sub"/>
          <p:cNvSpPr txBox="1"/>
          <p:nvPr/>
        </p:nvSpPr>
        <p:spPr>
          <a:xfrm>
            <a:off x="1371600" y="40690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case studies, and the projects around them</a:t>
            </a:r>
            <a:endParaRPr lang="en-US" sz="1600" dirty="0"/>
          </a:p>
        </p:txBody>
      </p:sp>
      <p:sp>
        <p:nvSpPr>
          <p:cNvPr id="5" name="section-mark-a"/>
          <p:cNvSpPr/>
          <p:nvPr/>
        </p:nvSpPr>
        <p:spPr>
          <a:xfrm>
            <a:off x="1371600" y="5010912"/>
            <a:ext cx="82296" cy="822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section-mark-b"/>
          <p:cNvSpPr/>
          <p:nvPr/>
        </p:nvSpPr>
        <p:spPr>
          <a:xfrm>
            <a:off x="1490472" y="4928616"/>
            <a:ext cx="82296" cy="822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section-mark-c"/>
          <p:cNvSpPr/>
          <p:nvPr/>
        </p:nvSpPr>
        <p:spPr>
          <a:xfrm>
            <a:off x="1609344" y="4846320"/>
            <a:ext cx="82296" cy="82296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4980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years of work, at a glance</a:t>
            </a:r>
            <a:endParaRPr lang="en-US" sz="3200" dirty="0"/>
          </a:p>
        </p:txBody>
      </p:sp>
      <p:pic>
        <p:nvPicPr>
          <p:cNvPr id="4" name="tile-0" descr="C:\Users\USER\AppData\Local\Temp\claude\d--MHKFiles-portfolio-of-mhk\8f60aedb-67f2-4b98-80ae-89b16b6d710a\scratchpad\deck-img\t_axt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83080"/>
            <a:ext cx="2560320" cy="1440180"/>
          </a:xfrm>
          <a:prstGeom prst="rect">
            <a:avLst/>
          </a:prstGeom>
        </p:spPr>
      </p:pic>
      <p:sp>
        <p:nvSpPr>
          <p:cNvPr id="5" name="tile-title-0"/>
          <p:cNvSpPr txBox="1"/>
          <p:nvPr/>
        </p:nvSpPr>
        <p:spPr>
          <a:xfrm>
            <a:off x="594360" y="33329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Axtra POS</a:t>
            </a:r>
            <a:endParaRPr lang="en-US" sz="1300" dirty="0"/>
          </a:p>
        </p:txBody>
      </p:sp>
      <p:sp>
        <p:nvSpPr>
          <p:cNvPr id="6" name="tile-cat-0"/>
          <p:cNvSpPr txBox="1"/>
          <p:nvPr/>
        </p:nvSpPr>
        <p:spPr>
          <a:xfrm>
            <a:off x="594360" y="36073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of sale · Restaurants</a:t>
            </a:r>
            <a:endParaRPr lang="en-US" sz="1000" dirty="0"/>
          </a:p>
        </p:txBody>
      </p:sp>
      <p:pic>
        <p:nvPicPr>
          <p:cNvPr id="7" name="tile-1" descr="C:\Users\USER\AppData\Local\Temp\claude\d--MHKFiles-portfolio-of-mhk\8f60aedb-67f2-4b98-80ae-89b16b6d710a\scratchpad\deck-img\t_energ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1783080"/>
            <a:ext cx="2560320" cy="1440180"/>
          </a:xfrm>
          <a:prstGeom prst="rect">
            <a:avLst/>
          </a:prstGeom>
        </p:spPr>
      </p:pic>
      <p:sp>
        <p:nvSpPr>
          <p:cNvPr id="8" name="tile-title-1"/>
          <p:cNvSpPr txBox="1"/>
          <p:nvPr/>
        </p:nvSpPr>
        <p:spPr>
          <a:xfrm>
            <a:off x="3410712" y="33329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Energy</a:t>
            </a:r>
            <a:endParaRPr lang="en-US" sz="1300" dirty="0"/>
          </a:p>
        </p:txBody>
      </p:sp>
      <p:sp>
        <p:nvSpPr>
          <p:cNvPr id="9" name="tile-cat-1"/>
          <p:cNvSpPr txBox="1"/>
          <p:nvPr/>
        </p:nvSpPr>
        <p:spPr>
          <a:xfrm>
            <a:off x="3410712" y="36073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· AI-assisted redesign</a:t>
            </a:r>
            <a:endParaRPr lang="en-US" sz="1000" dirty="0"/>
          </a:p>
        </p:txBody>
      </p:sp>
      <p:pic>
        <p:nvPicPr>
          <p:cNvPr id="10" name="tile-2" descr="C:\Users\USER\AppData\Local\Temp\claude\d--MHKFiles-portfolio-of-mhk\8f60aedb-67f2-4b98-80ae-89b16b6d710a\scratchpad\deck-img\t_logistic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1783080"/>
            <a:ext cx="2560320" cy="1440180"/>
          </a:xfrm>
          <a:prstGeom prst="rect">
            <a:avLst/>
          </a:prstGeom>
        </p:spPr>
      </p:pic>
      <p:sp>
        <p:nvSpPr>
          <p:cNvPr id="11" name="tile-title-2"/>
          <p:cNvSpPr txBox="1"/>
          <p:nvPr/>
        </p:nvSpPr>
        <p:spPr>
          <a:xfrm>
            <a:off x="6227064" y="33329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&amp; Warehouse</a:t>
            </a:r>
            <a:endParaRPr lang="en-US" sz="1300" dirty="0"/>
          </a:p>
        </p:txBody>
      </p:sp>
      <p:sp>
        <p:nvSpPr>
          <p:cNvPr id="12" name="tile-cat-2"/>
          <p:cNvSpPr txBox="1"/>
          <p:nvPr/>
        </p:nvSpPr>
        <p:spPr>
          <a:xfrm>
            <a:off x="6227064" y="36073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· Enterprise</a:t>
            </a:r>
            <a:endParaRPr lang="en-US" sz="1000" dirty="0"/>
          </a:p>
        </p:txBody>
      </p:sp>
      <p:pic>
        <p:nvPicPr>
          <p:cNvPr id="13" name="tile-3" descr="C:\Users\USER\AppData\Local\Temp\claude\d--MHKFiles-portfolio-of-mhk\8f60aedb-67f2-4b98-80ae-89b16b6d710a\scratchpad\deck-img\t_ponsary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3416" y="1783080"/>
            <a:ext cx="2560320" cy="1440180"/>
          </a:xfrm>
          <a:prstGeom prst="rect">
            <a:avLst/>
          </a:prstGeom>
        </p:spPr>
      </p:pic>
      <p:sp>
        <p:nvSpPr>
          <p:cNvPr id="14" name="tile-title-3"/>
          <p:cNvSpPr txBox="1"/>
          <p:nvPr/>
        </p:nvSpPr>
        <p:spPr>
          <a:xfrm>
            <a:off x="9043416" y="33329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PonSarYay</a:t>
            </a:r>
            <a:endParaRPr lang="en-US" sz="1300" dirty="0"/>
          </a:p>
        </p:txBody>
      </p:sp>
      <p:sp>
        <p:nvSpPr>
          <p:cNvPr id="15" name="tile-cat-3"/>
          <p:cNvSpPr txBox="1"/>
          <p:nvPr/>
        </p:nvSpPr>
        <p:spPr>
          <a:xfrm>
            <a:off x="9043416" y="36073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· Web app</a:t>
            </a:r>
            <a:endParaRPr lang="en-US" sz="1000" dirty="0"/>
          </a:p>
        </p:txBody>
      </p:sp>
      <p:pic>
        <p:nvPicPr>
          <p:cNvPr id="16" name="tile-4" descr="C:\Users\USER\AppData\Local\Temp\claude\d--MHKFiles-portfolio-of-mhk\8f60aedb-67f2-4b98-80ae-89b16b6d710a\scratchpad\deck-img\t_museu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995928"/>
            <a:ext cx="2560320" cy="1440180"/>
          </a:xfrm>
          <a:prstGeom prst="rect">
            <a:avLst/>
          </a:prstGeom>
        </p:spPr>
      </p:pic>
      <p:sp>
        <p:nvSpPr>
          <p:cNvPr id="17" name="tile-title-4"/>
          <p:cNvSpPr txBox="1"/>
          <p:nvPr/>
        </p:nvSpPr>
        <p:spPr>
          <a:xfrm>
            <a:off x="594360" y="55458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Museum Management</a:t>
            </a:r>
            <a:endParaRPr lang="en-US" sz="1300" dirty="0"/>
          </a:p>
        </p:txBody>
      </p:sp>
      <p:sp>
        <p:nvSpPr>
          <p:cNvPr id="18" name="tile-cat-4"/>
          <p:cNvSpPr txBox="1"/>
          <p:nvPr/>
        </p:nvSpPr>
        <p:spPr>
          <a:xfrm>
            <a:off x="594360" y="58201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· Admin &amp; visitor app</a:t>
            </a:r>
            <a:endParaRPr lang="en-US" sz="1000" dirty="0"/>
          </a:p>
        </p:txBody>
      </p:sp>
      <p:pic>
        <p:nvPicPr>
          <p:cNvPr id="19" name="tile-5" descr="C:\Users\USER\AppData\Local\Temp\claude\d--MHKFiles-portfolio-of-mhk\8f60aedb-67f2-4b98-80ae-89b16b6d710a\scratchpad\deck-img\t_etick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0712" y="3995928"/>
            <a:ext cx="2560320" cy="1440180"/>
          </a:xfrm>
          <a:prstGeom prst="rect">
            <a:avLst/>
          </a:prstGeom>
        </p:spPr>
      </p:pic>
      <p:sp>
        <p:nvSpPr>
          <p:cNvPr id="20" name="tile-title-5"/>
          <p:cNvSpPr txBox="1"/>
          <p:nvPr/>
        </p:nvSpPr>
        <p:spPr>
          <a:xfrm>
            <a:off x="3410712" y="55458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E-ticket Management</a:t>
            </a:r>
            <a:endParaRPr lang="en-US" sz="1300" dirty="0"/>
          </a:p>
        </p:txBody>
      </p:sp>
      <p:sp>
        <p:nvSpPr>
          <p:cNvPr id="21" name="tile-cat-5"/>
          <p:cNvSpPr txBox="1"/>
          <p:nvPr/>
        </p:nvSpPr>
        <p:spPr>
          <a:xfrm>
            <a:off x="3410712" y="58201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Ticketing · Admin console</a:t>
            </a:r>
            <a:endParaRPr lang="en-US" sz="1000" dirty="0"/>
          </a:p>
        </p:txBody>
      </p:sp>
      <p:pic>
        <p:nvPicPr>
          <p:cNvPr id="22" name="tile-6" descr="C:\Users\USER\AppData\Local\Temp\claude\d--MHKFiles-portfolio-of-mhk\8f60aedb-67f2-4b98-80ae-89b16b6d710a\scratchpad\deck-img\t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7064" y="3995928"/>
            <a:ext cx="2560320" cy="1440180"/>
          </a:xfrm>
          <a:prstGeom prst="rect">
            <a:avLst/>
          </a:prstGeom>
        </p:spPr>
      </p:pic>
      <p:sp>
        <p:nvSpPr>
          <p:cNvPr id="23" name="tile-title-6"/>
          <p:cNvSpPr txBox="1"/>
          <p:nvPr/>
        </p:nvSpPr>
        <p:spPr>
          <a:xfrm>
            <a:off x="6227064" y="55458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Shop Management</a:t>
            </a:r>
            <a:endParaRPr lang="en-US" sz="1300" dirty="0"/>
          </a:p>
        </p:txBody>
      </p:sp>
      <p:sp>
        <p:nvSpPr>
          <p:cNvPr id="24" name="tile-cat-6"/>
          <p:cNvSpPr txBox="1"/>
          <p:nvPr/>
        </p:nvSpPr>
        <p:spPr>
          <a:xfrm>
            <a:off x="6227064" y="58201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· Dashboard</a:t>
            </a:r>
            <a:endParaRPr lang="en-US" sz="1000" dirty="0"/>
          </a:p>
        </p:txBody>
      </p:sp>
      <p:pic>
        <p:nvPicPr>
          <p:cNvPr id="25" name="tile-7" descr="C:\Users\USER\AppData\Local\Temp\claude\d--MHKFiles-portfolio-of-mhk\8f60aedb-67f2-4b98-80ae-89b16b6d710a\scratchpad\deck-img\t_hote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3416" y="3995928"/>
            <a:ext cx="2560320" cy="1440180"/>
          </a:xfrm>
          <a:prstGeom prst="rect">
            <a:avLst/>
          </a:prstGeom>
        </p:spPr>
      </p:pic>
      <p:sp>
        <p:nvSpPr>
          <p:cNvPr id="26" name="tile-title-7"/>
          <p:cNvSpPr txBox="1"/>
          <p:nvPr/>
        </p:nvSpPr>
        <p:spPr>
          <a:xfrm>
            <a:off x="9043416" y="55458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Booking</a:t>
            </a:r>
            <a:endParaRPr lang="en-US" sz="1300" dirty="0"/>
          </a:p>
        </p:txBody>
      </p:sp>
      <p:sp>
        <p:nvSpPr>
          <p:cNvPr id="27" name="tile-cat-7"/>
          <p:cNvSpPr txBox="1"/>
          <p:nvPr/>
        </p:nvSpPr>
        <p:spPr>
          <a:xfrm>
            <a:off x="9043416" y="58201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owner platform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STUDY 01 · POINT OF SALE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4980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Axtra POS</a:t>
            </a:r>
            <a:endParaRPr lang="en-US" sz="3200" dirty="0"/>
          </a:p>
        </p:txBody>
      </p:sp>
      <p:sp>
        <p:nvSpPr>
          <p:cNvPr id="4" name="cs-summary"/>
          <p:cNvSpPr txBox="1"/>
          <p:nvPr/>
        </p:nvSpPr>
        <p:spPr>
          <a:xfrm>
            <a:off x="548640" y="164592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cross-platform POS for restaurants: one product that had to work on web, desktop, tablet and phone. The hard part was responsive design across a product that kept growing for over a year.</a:t>
            </a:r>
            <a:endParaRPr lang="en-US" sz="1400" dirty="0"/>
          </a:p>
        </p:txBody>
      </p:sp>
      <p:sp>
        <p:nvSpPr>
          <p:cNvPr id="5" name="cs-meta-label-0"/>
          <p:cNvSpPr txBox="1"/>
          <p:nvPr/>
        </p:nvSpPr>
        <p:spPr>
          <a:xfrm>
            <a:off x="548640" y="28346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endParaRPr lang="en-US" sz="950" dirty="0"/>
          </a:p>
        </p:txBody>
      </p:sp>
      <p:sp>
        <p:nvSpPr>
          <p:cNvPr id="6" name="cs-meta-0"/>
          <p:cNvSpPr txBox="1"/>
          <p:nvPr/>
        </p:nvSpPr>
        <p:spPr>
          <a:xfrm>
            <a:off x="1874520" y="283464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Designer &amp; Frontend Dev</a:t>
            </a:r>
            <a:endParaRPr lang="en-US" sz="1250" dirty="0"/>
          </a:p>
        </p:txBody>
      </p:sp>
      <p:sp>
        <p:nvSpPr>
          <p:cNvPr id="7" name="cs-meta-label-1"/>
          <p:cNvSpPr txBox="1"/>
          <p:nvPr/>
        </p:nvSpPr>
        <p:spPr>
          <a:xfrm>
            <a:off x="548640" y="34015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endParaRPr lang="en-US" sz="950" dirty="0"/>
          </a:p>
        </p:txBody>
      </p:sp>
      <p:sp>
        <p:nvSpPr>
          <p:cNvPr id="8" name="cs-meta-1"/>
          <p:cNvSpPr txBox="1"/>
          <p:nvPr/>
        </p:nvSpPr>
        <p:spPr>
          <a:xfrm>
            <a:off x="1874520" y="340156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PO, PM, developers, operations</a:t>
            </a:r>
            <a:endParaRPr lang="en-US" sz="1250" dirty="0"/>
          </a:p>
        </p:txBody>
      </p:sp>
      <p:sp>
        <p:nvSpPr>
          <p:cNvPr id="9" name="cs-meta-label-2"/>
          <p:cNvSpPr txBox="1"/>
          <p:nvPr/>
        </p:nvSpPr>
        <p:spPr>
          <a:xfrm>
            <a:off x="548640" y="396849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</a:t>
            </a:r>
            <a:endParaRPr lang="en-US" sz="950" dirty="0"/>
          </a:p>
        </p:txBody>
      </p:sp>
      <p:sp>
        <p:nvSpPr>
          <p:cNvPr id="10" name="cs-meta-2"/>
          <p:cNvSpPr txBox="1"/>
          <p:nvPr/>
        </p:nvSpPr>
        <p:spPr>
          <a:xfrm>
            <a:off x="1874520" y="396849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1+ year, start to finish</a:t>
            </a:r>
            <a:endParaRPr lang="en-US" sz="1250" dirty="0"/>
          </a:p>
        </p:txBody>
      </p:sp>
      <p:sp>
        <p:nvSpPr>
          <p:cNvPr id="11" name="cs-outcome-label"/>
          <p:cNvSpPr txBox="1"/>
          <p:nvPr/>
        </p:nvSpPr>
        <p:spPr>
          <a:xfrm>
            <a:off x="548640" y="46634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OUTCOME</a:t>
            </a:r>
            <a:endParaRPr lang="en-US" sz="950" dirty="0"/>
          </a:p>
        </p:txBody>
      </p:sp>
      <p:sp>
        <p:nvSpPr>
          <p:cNvPr id="12" name="cs-dot-0"/>
          <p:cNvSpPr/>
          <p:nvPr/>
        </p:nvSpPr>
        <p:spPr>
          <a:xfrm>
            <a:off x="548640" y="5038344"/>
            <a:ext cx="9144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cs-out-0"/>
          <p:cNvSpPr txBox="1"/>
          <p:nvPr/>
        </p:nvSpPr>
        <p:spPr>
          <a:xfrm>
            <a:off x="786384" y="4956048"/>
            <a:ext cx="4791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use at 10+ restaurants in Yangon</a:t>
            </a:r>
            <a:endParaRPr lang="en-US" sz="1250" dirty="0"/>
          </a:p>
        </p:txBody>
      </p:sp>
      <p:sp>
        <p:nvSpPr>
          <p:cNvPr id="14" name="cs-dot-1"/>
          <p:cNvSpPr/>
          <p:nvPr/>
        </p:nvSpPr>
        <p:spPr>
          <a:xfrm>
            <a:off x="548640" y="5422392"/>
            <a:ext cx="9144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5" name="cs-out-1"/>
          <p:cNvSpPr txBox="1"/>
          <p:nvPr/>
        </p:nvSpPr>
        <p:spPr>
          <a:xfrm>
            <a:off x="786384" y="5340096"/>
            <a:ext cx="4791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consistent product across four screen sizes</a:t>
            </a:r>
            <a:endParaRPr lang="en-US" sz="1250" dirty="0"/>
          </a:p>
        </p:txBody>
      </p:sp>
      <p:sp>
        <p:nvSpPr>
          <p:cNvPr id="16" name="cs-dot-2"/>
          <p:cNvSpPr/>
          <p:nvPr/>
        </p:nvSpPr>
        <p:spPr>
          <a:xfrm>
            <a:off x="548640" y="5806440"/>
            <a:ext cx="9144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cs-out-2"/>
          <p:cNvSpPr txBox="1"/>
          <p:nvPr/>
        </p:nvSpPr>
        <p:spPr>
          <a:xfrm>
            <a:off x="786384" y="5724144"/>
            <a:ext cx="4791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Layouts fixed in the codebase, not in specs</a:t>
            </a:r>
            <a:endParaRPr lang="en-US" sz="1250" dirty="0"/>
          </a:p>
        </p:txBody>
      </p:sp>
      <p:sp>
        <p:nvSpPr>
          <p:cNvPr id="18" name="cs-img-frame"/>
          <p:cNvSpPr/>
          <p:nvPr/>
        </p:nvSpPr>
        <p:spPr>
          <a:xfrm>
            <a:off x="6035040" y="2237469"/>
            <a:ext cx="5696712" cy="3206022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19" name="cs-img" descr="C:\Users\USER\AppData\Local\Temp\claude\d--MHKFiles-portfolio-of-mhk\8f60aedb-67f2-4b98-80ae-89b16b6d710a\scratchpad\deck-img\axtraB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2146029"/>
            <a:ext cx="5696712" cy="320602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AXTRA POS · SCREENS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4980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product on every screen</a:t>
            </a:r>
            <a:endParaRPr lang="en-US" sz="3200" dirty="0"/>
          </a:p>
        </p:txBody>
      </p:sp>
      <p:pic>
        <p:nvPicPr>
          <p:cNvPr id="4" name="shot-0" descr="C:\Users\USER\AppData\Local\Temp\claude\d--MHKFiles-portfolio-of-mhk\8f60aedb-67f2-4b98-80ae-89b16b6d710a\scratchpad\deck-img\axtraP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77440"/>
            <a:ext cx="5358384" cy="2503370"/>
          </a:xfrm>
          <a:prstGeom prst="rect">
            <a:avLst/>
          </a:prstGeom>
        </p:spPr>
      </p:pic>
      <p:sp>
        <p:nvSpPr>
          <p:cNvPr id="5" name="shot-cap-0"/>
          <p:cNvSpPr txBox="1"/>
          <p:nvPr/>
        </p:nvSpPr>
        <p:spPr>
          <a:xfrm>
            <a:off x="548640" y="5081978"/>
            <a:ext cx="5358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screen, built for speed at the counter</a:t>
            </a:r>
            <a:endParaRPr lang="en-US" sz="1200" dirty="0"/>
          </a:p>
        </p:txBody>
      </p:sp>
      <p:pic>
        <p:nvPicPr>
          <p:cNvPr id="6" name="shot-1" descr="C:\Users\USER\AppData\Local\Temp\claude\d--MHKFiles-portfolio-of-mhk\8f60aedb-67f2-4b98-80ae-89b16b6d710a\scratchpad\deck-img\axtraRepor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8" y="2377440"/>
            <a:ext cx="5358384" cy="2503370"/>
          </a:xfrm>
          <a:prstGeom prst="rect">
            <a:avLst/>
          </a:prstGeom>
        </p:spPr>
      </p:pic>
      <p:sp>
        <p:nvSpPr>
          <p:cNvPr id="7" name="shot-cap-1"/>
          <p:cNvSpPr txBox="1"/>
          <p:nvPr/>
        </p:nvSpPr>
        <p:spPr>
          <a:xfrm>
            <a:off x="6281928" y="5081978"/>
            <a:ext cx="5358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Reports: the day’s numbers at a glance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STUDY 02 · AI-ASSISTED REDESIGN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4980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Energy Management</a:t>
            </a:r>
            <a:endParaRPr lang="en-US" sz="3200" dirty="0"/>
          </a:p>
        </p:txBody>
      </p:sp>
      <p:sp>
        <p:nvSpPr>
          <p:cNvPr id="4" name="cs-summary"/>
          <p:cNvSpPr txBox="1"/>
          <p:nvPr/>
        </p:nvSpPr>
        <p:spPr>
          <a:xfrm>
            <a:off x="548640" y="164592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redesign of a home energy app bringing solar, grid, battery and EV charging into one place. A PRD covered the core; the rest I designed myself — in a two-week window.</a:t>
            </a:r>
            <a:endParaRPr lang="en-US" sz="1400" dirty="0"/>
          </a:p>
        </p:txBody>
      </p:sp>
      <p:sp>
        <p:nvSpPr>
          <p:cNvPr id="5" name="cs-meta-label-0"/>
          <p:cNvSpPr txBox="1"/>
          <p:nvPr/>
        </p:nvSpPr>
        <p:spPr>
          <a:xfrm>
            <a:off x="548640" y="28346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endParaRPr lang="en-US" sz="950" dirty="0"/>
          </a:p>
        </p:txBody>
      </p:sp>
      <p:sp>
        <p:nvSpPr>
          <p:cNvPr id="6" name="cs-meta-0"/>
          <p:cNvSpPr txBox="1"/>
          <p:nvPr/>
        </p:nvSpPr>
        <p:spPr>
          <a:xfrm>
            <a:off x="1874520" y="283464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Designer &amp; Frontend</a:t>
            </a:r>
            <a:endParaRPr lang="en-US" sz="1250" dirty="0"/>
          </a:p>
        </p:txBody>
      </p:sp>
      <p:sp>
        <p:nvSpPr>
          <p:cNvPr id="7" name="cs-meta-label-1"/>
          <p:cNvSpPr txBox="1"/>
          <p:nvPr/>
        </p:nvSpPr>
        <p:spPr>
          <a:xfrm>
            <a:off x="548640" y="34015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endParaRPr lang="en-US" sz="950" dirty="0"/>
          </a:p>
        </p:txBody>
      </p:sp>
      <p:sp>
        <p:nvSpPr>
          <p:cNvPr id="8" name="cs-meta-1"/>
          <p:cNvSpPr txBox="1"/>
          <p:nvPr/>
        </p:nvSpPr>
        <p:spPr>
          <a:xfrm>
            <a:off x="1874520" y="340156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Solo, direct with the client</a:t>
            </a:r>
            <a:endParaRPr lang="en-US" sz="1250" dirty="0"/>
          </a:p>
        </p:txBody>
      </p:sp>
      <p:sp>
        <p:nvSpPr>
          <p:cNvPr id="9" name="cs-meta-label-2"/>
          <p:cNvSpPr txBox="1"/>
          <p:nvPr/>
        </p:nvSpPr>
        <p:spPr>
          <a:xfrm>
            <a:off x="548640" y="396849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</a:t>
            </a:r>
            <a:endParaRPr lang="en-US" sz="950" dirty="0"/>
          </a:p>
        </p:txBody>
      </p:sp>
      <p:sp>
        <p:nvSpPr>
          <p:cNvPr id="10" name="cs-meta-2"/>
          <p:cNvSpPr txBox="1"/>
          <p:nvPr/>
        </p:nvSpPr>
        <p:spPr>
          <a:xfrm>
            <a:off x="1874520" y="396849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1250" dirty="0"/>
          </a:p>
        </p:txBody>
      </p:sp>
      <p:sp>
        <p:nvSpPr>
          <p:cNvPr id="11" name="cs-outcome-label"/>
          <p:cNvSpPr txBox="1"/>
          <p:nvPr/>
        </p:nvSpPr>
        <p:spPr>
          <a:xfrm>
            <a:off x="548640" y="46634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OUTCOME</a:t>
            </a:r>
            <a:endParaRPr lang="en-US" sz="950" dirty="0"/>
          </a:p>
        </p:txBody>
      </p:sp>
      <p:sp>
        <p:nvSpPr>
          <p:cNvPr id="12" name="cs-dot-0"/>
          <p:cNvSpPr/>
          <p:nvPr/>
        </p:nvSpPr>
        <p:spPr>
          <a:xfrm>
            <a:off x="548640" y="5038344"/>
            <a:ext cx="9144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cs-out-0"/>
          <p:cNvSpPr txBox="1"/>
          <p:nvPr/>
        </p:nvSpPr>
        <p:spPr>
          <a:xfrm>
            <a:off x="786384" y="4956048"/>
            <a:ext cx="4791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app redesigned in two weeks</a:t>
            </a:r>
            <a:endParaRPr lang="en-US" sz="1250" dirty="0"/>
          </a:p>
        </p:txBody>
      </p:sp>
      <p:sp>
        <p:nvSpPr>
          <p:cNvPr id="14" name="cs-dot-1"/>
          <p:cNvSpPr/>
          <p:nvPr/>
        </p:nvSpPr>
        <p:spPr>
          <a:xfrm>
            <a:off x="548640" y="5422392"/>
            <a:ext cx="9144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5" name="cs-out-1"/>
          <p:cNvSpPr txBox="1"/>
          <p:nvPr/>
        </p:nvSpPr>
        <p:spPr>
          <a:xfrm>
            <a:off x="786384" y="5340096"/>
            <a:ext cx="4791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accepted by the client</a:t>
            </a:r>
            <a:endParaRPr lang="en-US" sz="1250" dirty="0"/>
          </a:p>
        </p:txBody>
      </p:sp>
      <p:sp>
        <p:nvSpPr>
          <p:cNvPr id="16" name="cs-dot-2"/>
          <p:cNvSpPr/>
          <p:nvPr/>
        </p:nvSpPr>
        <p:spPr>
          <a:xfrm>
            <a:off x="548640" y="5806440"/>
            <a:ext cx="9144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cs-out-2"/>
          <p:cNvSpPr txBox="1"/>
          <p:nvPr/>
        </p:nvSpPr>
        <p:spPr>
          <a:xfrm>
            <a:off x="786384" y="5724144"/>
            <a:ext cx="4791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prototype live online</a:t>
            </a:r>
            <a:endParaRPr lang="en-US" sz="1250" dirty="0"/>
          </a:p>
        </p:txBody>
      </p:sp>
      <p:sp>
        <p:nvSpPr>
          <p:cNvPr id="18" name="cs-img-frame"/>
          <p:cNvSpPr/>
          <p:nvPr/>
        </p:nvSpPr>
        <p:spPr>
          <a:xfrm>
            <a:off x="6035040" y="2238615"/>
            <a:ext cx="5696712" cy="3203731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19" name="cs-img" descr="C:\Users\USER\AppData\Local\Temp\claude\d--MHKFiles-portfolio-of-mhk\8f60aedb-67f2-4b98-80ae-89b16b6d710a\scratchpad\deck-img\energyB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2147175"/>
            <a:ext cx="5696712" cy="320373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 ENERGY · SCREENS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4980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Flows the brief left open</a:t>
            </a:r>
            <a:endParaRPr lang="en-US" sz="3200" dirty="0"/>
          </a:p>
        </p:txBody>
      </p:sp>
      <p:pic>
        <p:nvPicPr>
          <p:cNvPr id="4" name="ph-0" descr="C:\Users\USER\AppData\Local\Temp\claude\d--MHKFiles-portfolio-of-mhk\8f60aedb-67f2-4b98-80ae-89b16b6d710a\scratchpad\deck-img\energy_insigh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261" y="1645920"/>
            <a:ext cx="1721943" cy="3611880"/>
          </a:xfrm>
          <a:prstGeom prst="rect">
            <a:avLst/>
          </a:prstGeom>
        </p:spPr>
      </p:pic>
      <p:sp>
        <p:nvSpPr>
          <p:cNvPr id="5" name="ph-title-0"/>
          <p:cNvSpPr txBox="1"/>
          <p:nvPr/>
        </p:nvSpPr>
        <p:spPr>
          <a:xfrm>
            <a:off x="548640" y="539496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</a:t>
            </a:r>
            <a:endParaRPr lang="en-US" sz="1300" dirty="0"/>
          </a:p>
        </p:txBody>
      </p:sp>
      <p:sp>
        <p:nvSpPr>
          <p:cNvPr id="6" name="ph-cap-0"/>
          <p:cNvSpPr txBox="1"/>
          <p:nvPr/>
        </p:nvSpPr>
        <p:spPr>
          <a:xfrm>
            <a:off x="548640" y="5669280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by day, week, month, year</a:t>
            </a:r>
            <a:endParaRPr lang="en-US" sz="1100" dirty="0"/>
          </a:p>
        </p:txBody>
      </p:sp>
      <p:pic>
        <p:nvPicPr>
          <p:cNvPr id="7" name="ph-1" descr="C:\Users\USER\AppData\Local\Temp\claude\d--MHKFiles-portfolio-of-mhk\8f60aedb-67f2-4b98-80ae-89b16b6d710a\scratchpad\deck-img\energy_batte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469" y="1645920"/>
            <a:ext cx="1721943" cy="3611880"/>
          </a:xfrm>
          <a:prstGeom prst="rect">
            <a:avLst/>
          </a:prstGeom>
        </p:spPr>
      </p:pic>
      <p:sp>
        <p:nvSpPr>
          <p:cNvPr id="8" name="ph-title-1"/>
          <p:cNvSpPr txBox="1"/>
          <p:nvPr/>
        </p:nvSpPr>
        <p:spPr>
          <a:xfrm>
            <a:off x="3355848" y="539496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</a:t>
            </a:r>
            <a:endParaRPr lang="en-US" sz="1300" dirty="0"/>
          </a:p>
        </p:txBody>
      </p:sp>
      <p:sp>
        <p:nvSpPr>
          <p:cNvPr id="9" name="ph-cap-1"/>
          <p:cNvSpPr txBox="1"/>
          <p:nvPr/>
        </p:nvSpPr>
        <p:spPr>
          <a:xfrm>
            <a:off x="3355848" y="5669280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status and controls</a:t>
            </a:r>
            <a:endParaRPr lang="en-US" sz="1100" dirty="0"/>
          </a:p>
        </p:txBody>
      </p:sp>
      <p:pic>
        <p:nvPicPr>
          <p:cNvPr id="10" name="ph-2" descr="C:\Users\USER\AppData\Local\Temp\claude\d--MHKFiles-portfolio-of-mhk\8f60aedb-67f2-4b98-80ae-89b16b6d710a\scratchpad\deck-img\energy_ev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677" y="1645920"/>
            <a:ext cx="1721943" cy="3611880"/>
          </a:xfrm>
          <a:prstGeom prst="rect">
            <a:avLst/>
          </a:prstGeom>
        </p:spPr>
      </p:pic>
      <p:sp>
        <p:nvSpPr>
          <p:cNvPr id="11" name="ph-title-2"/>
          <p:cNvSpPr txBox="1"/>
          <p:nvPr/>
        </p:nvSpPr>
        <p:spPr>
          <a:xfrm>
            <a:off x="6163056" y="539496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charging</a:t>
            </a:r>
            <a:endParaRPr lang="en-US" sz="1300" dirty="0"/>
          </a:p>
        </p:txBody>
      </p:sp>
      <p:sp>
        <p:nvSpPr>
          <p:cNvPr id="12" name="ph-cap-2"/>
          <p:cNvSpPr txBox="1"/>
          <p:nvPr/>
        </p:nvSpPr>
        <p:spPr>
          <a:xfrm>
            <a:off x="6163056" y="5669280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mode at a glance</a:t>
            </a:r>
            <a:endParaRPr lang="en-US" sz="1100" dirty="0"/>
          </a:p>
        </p:txBody>
      </p:sp>
      <p:pic>
        <p:nvPicPr>
          <p:cNvPr id="13" name="ph-3" descr="C:\Users\USER\AppData\Local\Temp\claude\d--MHKFiles-portfolio-of-mhk\8f60aedb-67f2-4b98-80ae-89b16b6d710a\scratchpad\deck-img\energy_weath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885" y="1645920"/>
            <a:ext cx="1721943" cy="3611880"/>
          </a:xfrm>
          <a:prstGeom prst="rect">
            <a:avLst/>
          </a:prstGeom>
        </p:spPr>
      </p:pic>
      <p:sp>
        <p:nvSpPr>
          <p:cNvPr id="14" name="ph-title-3"/>
          <p:cNvSpPr txBox="1"/>
          <p:nvPr/>
        </p:nvSpPr>
        <p:spPr>
          <a:xfrm>
            <a:off x="8970264" y="539496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</a:t>
            </a:r>
            <a:endParaRPr lang="en-US" sz="1300" dirty="0"/>
          </a:p>
        </p:txBody>
      </p:sp>
      <p:sp>
        <p:nvSpPr>
          <p:cNvPr id="15" name="ph-cap-3"/>
          <p:cNvSpPr txBox="1"/>
          <p:nvPr/>
        </p:nvSpPr>
        <p:spPr>
          <a:xfrm>
            <a:off x="8970264" y="5669280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StormReady monitoring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ALSO IN THE INVENTORY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4980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more products</a:t>
            </a:r>
            <a:endParaRPr lang="en-US" sz="3200" dirty="0"/>
          </a:p>
        </p:txBody>
      </p:sp>
      <p:sp>
        <p:nvSpPr>
          <p:cNvPr id="4" name="more-0"/>
          <p:cNvSpPr/>
          <p:nvPr/>
        </p:nvSpPr>
        <p:spPr>
          <a:xfrm>
            <a:off x="548640" y="1691640"/>
            <a:ext cx="3511296" cy="219456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3"/>
            </a:solidFill>
            <a:prstDash val="solid"/>
          </a:ln>
        </p:spPr>
      </p:sp>
      <p:pic>
        <p:nvPicPr>
          <p:cNvPr id="5" name="more-img-0" descr="C:\Users\USER\AppData\Local\Temp\claude\d--MHKFiles-portfolio-of-mhk\8f60aedb-67f2-4b98-80ae-89b16b6d710a\scratchpad\deck-img\s_logis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3511296" cy="1282386"/>
          </a:xfrm>
          <a:prstGeom prst="rect">
            <a:avLst/>
          </a:prstGeom>
        </p:spPr>
      </p:pic>
      <p:sp>
        <p:nvSpPr>
          <p:cNvPr id="6" name="more-title-0"/>
          <p:cNvSpPr txBox="1"/>
          <p:nvPr/>
        </p:nvSpPr>
        <p:spPr>
          <a:xfrm>
            <a:off x="786384" y="3081528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&amp; Warehouse</a:t>
            </a:r>
            <a:endParaRPr lang="en-US" sz="1350" dirty="0"/>
          </a:p>
        </p:txBody>
      </p:sp>
      <p:sp>
        <p:nvSpPr>
          <p:cNvPr id="7" name="more-text-0"/>
          <p:cNvSpPr txBox="1"/>
          <p:nvPr/>
        </p:nvSpPr>
        <p:spPr>
          <a:xfrm>
            <a:off x="786384" y="3374136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Warehouses, partners, drivers and riders in one admin panel — prototyped as working React apps.</a:t>
            </a:r>
            <a:endParaRPr lang="en-US" sz="1100" dirty="0"/>
          </a:p>
        </p:txBody>
      </p:sp>
      <p:sp>
        <p:nvSpPr>
          <p:cNvPr id="8" name="more-1"/>
          <p:cNvSpPr/>
          <p:nvPr/>
        </p:nvSpPr>
        <p:spPr>
          <a:xfrm>
            <a:off x="4334256" y="1691640"/>
            <a:ext cx="3511296" cy="219456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3"/>
            </a:solidFill>
            <a:prstDash val="solid"/>
          </a:ln>
        </p:spPr>
      </p:sp>
      <p:pic>
        <p:nvPicPr>
          <p:cNvPr id="9" name="more-img-1" descr="C:\Users\USER\AppData\Local\Temp\claude\d--MHKFiles-portfolio-of-mhk\8f60aedb-67f2-4b98-80ae-89b16b6d710a\scratchpad\deck-img\s_ponsary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256" y="1691640"/>
            <a:ext cx="3511296" cy="1282386"/>
          </a:xfrm>
          <a:prstGeom prst="rect">
            <a:avLst/>
          </a:prstGeom>
        </p:spPr>
      </p:pic>
      <p:sp>
        <p:nvSpPr>
          <p:cNvPr id="10" name="more-title-1"/>
          <p:cNvSpPr txBox="1"/>
          <p:nvPr/>
        </p:nvSpPr>
        <p:spPr>
          <a:xfrm>
            <a:off x="4572000" y="3081528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PonSarYay</a:t>
            </a:r>
            <a:endParaRPr lang="en-US" sz="1350" dirty="0"/>
          </a:p>
        </p:txBody>
      </p:sp>
      <p:sp>
        <p:nvSpPr>
          <p:cNvPr id="11" name="more-text-1"/>
          <p:cNvSpPr txBox="1"/>
          <p:nvPr/>
        </p:nvSpPr>
        <p:spPr>
          <a:xfrm>
            <a:off x="4572000" y="3374136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open-source text-on-image editor with Burmese fonts, refined using GA4 insights.</a:t>
            </a:r>
            <a:endParaRPr lang="en-US" sz="1100" dirty="0"/>
          </a:p>
        </p:txBody>
      </p:sp>
      <p:sp>
        <p:nvSpPr>
          <p:cNvPr id="12" name="more-2"/>
          <p:cNvSpPr/>
          <p:nvPr/>
        </p:nvSpPr>
        <p:spPr>
          <a:xfrm>
            <a:off x="8119872" y="1691640"/>
            <a:ext cx="3511296" cy="219456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3"/>
            </a:solidFill>
            <a:prstDash val="solid"/>
          </a:ln>
        </p:spPr>
      </p:sp>
      <p:pic>
        <p:nvPicPr>
          <p:cNvPr id="13" name="more-img-2" descr="C:\Users\USER\AppData\Local\Temp\claude\d--MHKFiles-portfolio-of-mhk\8f60aedb-67f2-4b98-80ae-89b16b6d710a\scratchpad\deck-img\s_museu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1691640"/>
            <a:ext cx="3511296" cy="1282386"/>
          </a:xfrm>
          <a:prstGeom prst="rect">
            <a:avLst/>
          </a:prstGeom>
        </p:spPr>
      </p:pic>
      <p:sp>
        <p:nvSpPr>
          <p:cNvPr id="14" name="more-title-2"/>
          <p:cNvSpPr txBox="1"/>
          <p:nvPr/>
        </p:nvSpPr>
        <p:spPr>
          <a:xfrm>
            <a:off x="8357616" y="3081528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Museum Management</a:t>
            </a:r>
            <a:endParaRPr lang="en-US" sz="1350" dirty="0"/>
          </a:p>
        </p:txBody>
      </p:sp>
      <p:sp>
        <p:nvSpPr>
          <p:cNvPr id="15" name="more-text-2"/>
          <p:cNvSpPr txBox="1"/>
          <p:nvPr/>
        </p:nvSpPr>
        <p:spPr>
          <a:xfrm>
            <a:off x="8357616" y="3374136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and exhibitions, plus a visitor app that reads artifact stories aloud.</a:t>
            </a:r>
            <a:endParaRPr lang="en-US" sz="1100" dirty="0"/>
          </a:p>
        </p:txBody>
      </p:sp>
      <p:sp>
        <p:nvSpPr>
          <p:cNvPr id="16" name="more-3"/>
          <p:cNvSpPr/>
          <p:nvPr/>
        </p:nvSpPr>
        <p:spPr>
          <a:xfrm>
            <a:off x="548640" y="3995928"/>
            <a:ext cx="3511296" cy="219456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3"/>
            </a:solidFill>
            <a:prstDash val="solid"/>
          </a:ln>
        </p:spPr>
      </p:sp>
      <p:pic>
        <p:nvPicPr>
          <p:cNvPr id="17" name="more-img-3" descr="C:\Users\USER\AppData\Local\Temp\claude\d--MHKFiles-portfolio-of-mhk\8f60aedb-67f2-4b98-80ae-89b16b6d710a\scratchpad\deck-img\s_etick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995928"/>
            <a:ext cx="3511296" cy="1282386"/>
          </a:xfrm>
          <a:prstGeom prst="rect">
            <a:avLst/>
          </a:prstGeom>
        </p:spPr>
      </p:pic>
      <p:sp>
        <p:nvSpPr>
          <p:cNvPr id="18" name="more-title-3"/>
          <p:cNvSpPr txBox="1"/>
          <p:nvPr/>
        </p:nvSpPr>
        <p:spPr>
          <a:xfrm>
            <a:off x="786384" y="5385816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E-ticket Management</a:t>
            </a:r>
            <a:endParaRPr lang="en-US" sz="1350" dirty="0"/>
          </a:p>
        </p:txBody>
      </p:sp>
      <p:sp>
        <p:nvSpPr>
          <p:cNvPr id="19" name="more-text-3"/>
          <p:cNvSpPr txBox="1"/>
          <p:nvPr/>
        </p:nvSpPr>
        <p:spPr>
          <a:xfrm>
            <a:off x="786384" y="5678424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Bus, train, flight and event ticketing run from a single operations console.</a:t>
            </a:r>
            <a:endParaRPr lang="en-US" sz="1100" dirty="0"/>
          </a:p>
        </p:txBody>
      </p:sp>
      <p:sp>
        <p:nvSpPr>
          <p:cNvPr id="20" name="more-4"/>
          <p:cNvSpPr/>
          <p:nvPr/>
        </p:nvSpPr>
        <p:spPr>
          <a:xfrm>
            <a:off x="4334256" y="3995928"/>
            <a:ext cx="3511296" cy="219456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3"/>
            </a:solidFill>
            <a:prstDash val="solid"/>
          </a:ln>
        </p:spPr>
      </p:sp>
      <p:pic>
        <p:nvPicPr>
          <p:cNvPr id="21" name="more-img-4" descr="C:\Users\USER\AppData\Local\Temp\claude\d--MHKFiles-portfolio-of-mhk\8f60aedb-67f2-4b98-80ae-89b16b6d710a\scratchpad\deck-img\s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256" y="3995928"/>
            <a:ext cx="3511296" cy="1282386"/>
          </a:xfrm>
          <a:prstGeom prst="rect">
            <a:avLst/>
          </a:prstGeom>
        </p:spPr>
      </p:pic>
      <p:sp>
        <p:nvSpPr>
          <p:cNvPr id="22" name="more-title-4"/>
          <p:cNvSpPr txBox="1"/>
          <p:nvPr/>
        </p:nvSpPr>
        <p:spPr>
          <a:xfrm>
            <a:off x="4572000" y="5385816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Shop Management</a:t>
            </a:r>
            <a:endParaRPr lang="en-US" sz="1350" dirty="0"/>
          </a:p>
        </p:txBody>
      </p:sp>
      <p:sp>
        <p:nvSpPr>
          <p:cNvPr id="23" name="more-text-4"/>
          <p:cNvSpPr txBox="1"/>
          <p:nvPr/>
        </p:nvSpPr>
        <p:spPr>
          <a:xfrm>
            <a:off x="4572000" y="5678424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gold price board by purity, sales overviews and a built-in POS.</a:t>
            </a:r>
            <a:endParaRPr lang="en-US" sz="1100" dirty="0"/>
          </a:p>
        </p:txBody>
      </p:sp>
      <p:sp>
        <p:nvSpPr>
          <p:cNvPr id="24" name="more-5"/>
          <p:cNvSpPr/>
          <p:nvPr/>
        </p:nvSpPr>
        <p:spPr>
          <a:xfrm>
            <a:off x="8119872" y="3995928"/>
            <a:ext cx="3511296" cy="219456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3"/>
            </a:solidFill>
            <a:prstDash val="solid"/>
          </a:ln>
        </p:spPr>
      </p:sp>
      <p:pic>
        <p:nvPicPr>
          <p:cNvPr id="25" name="more-img-5" descr="C:\Users\USER\AppData\Local\Temp\claude\d--MHKFiles-portfolio-of-mhk\8f60aedb-67f2-4b98-80ae-89b16b6d710a\scratchpad\deck-img\s_hote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9872" y="3995928"/>
            <a:ext cx="3511296" cy="1282386"/>
          </a:xfrm>
          <a:prstGeom prst="rect">
            <a:avLst/>
          </a:prstGeom>
        </p:spPr>
      </p:pic>
      <p:sp>
        <p:nvSpPr>
          <p:cNvPr id="26" name="more-title-5"/>
          <p:cNvSpPr txBox="1"/>
          <p:nvPr/>
        </p:nvSpPr>
        <p:spPr>
          <a:xfrm>
            <a:off x="8357616" y="5385816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Booking</a:t>
            </a:r>
            <a:endParaRPr lang="en-US" sz="1350" dirty="0"/>
          </a:p>
        </p:txBody>
      </p:sp>
      <p:sp>
        <p:nvSpPr>
          <p:cNvPr id="27" name="more-text-5"/>
          <p:cNvSpPr txBox="1"/>
          <p:nvPr/>
        </p:nvSpPr>
        <p:spPr>
          <a:xfrm>
            <a:off x="8357616" y="5678424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for travellers, with room, pricing and availability tools for owners.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4980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work actually gets done</a:t>
            </a:r>
            <a:endParaRPr lang="en-US" sz="3200" dirty="0"/>
          </a:p>
        </p:txBody>
      </p:sp>
      <p:sp>
        <p:nvSpPr>
          <p:cNvPr id="4" name="step-0"/>
          <p:cNvSpPr/>
          <p:nvPr/>
        </p:nvSpPr>
        <p:spPr>
          <a:xfrm>
            <a:off x="548640" y="2606040"/>
            <a:ext cx="2048256" cy="265176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5" name="step-no-bg-0"/>
          <p:cNvSpPr/>
          <p:nvPr/>
        </p:nvSpPr>
        <p:spPr>
          <a:xfrm>
            <a:off x="822960" y="2880360"/>
            <a:ext cx="438912" cy="43891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step-no-0"/>
          <p:cNvSpPr txBox="1"/>
          <p:nvPr/>
        </p:nvSpPr>
        <p:spPr>
          <a:xfrm>
            <a:off x="822960" y="2880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tep-title-0"/>
          <p:cNvSpPr txBox="1"/>
          <p:nvPr/>
        </p:nvSpPr>
        <p:spPr>
          <a:xfrm>
            <a:off x="822960" y="3474720"/>
            <a:ext cx="1499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the operation</a:t>
            </a:r>
            <a:endParaRPr lang="en-US" sz="1350" dirty="0"/>
          </a:p>
        </p:txBody>
      </p:sp>
      <p:sp>
        <p:nvSpPr>
          <p:cNvPr id="8" name="step-text-0"/>
          <p:cNvSpPr txBox="1"/>
          <p:nvPr/>
        </p:nvSpPr>
        <p:spPr>
          <a:xfrm>
            <a:off x="822960" y="4114800"/>
            <a:ext cx="1499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the people who use the product every day, not only the product team.</a:t>
            </a:r>
            <a:endParaRPr lang="en-US" sz="1100" dirty="0"/>
          </a:p>
        </p:txBody>
      </p:sp>
      <p:sp>
        <p:nvSpPr>
          <p:cNvPr id="9" name="step-1"/>
          <p:cNvSpPr/>
          <p:nvPr/>
        </p:nvSpPr>
        <p:spPr>
          <a:xfrm>
            <a:off x="2779776" y="2606040"/>
            <a:ext cx="2048256" cy="265176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0" name="step-no-bg-1"/>
          <p:cNvSpPr/>
          <p:nvPr/>
        </p:nvSpPr>
        <p:spPr>
          <a:xfrm>
            <a:off x="3054096" y="2880360"/>
            <a:ext cx="438912" cy="43891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step-no-1"/>
          <p:cNvSpPr txBox="1"/>
          <p:nvPr/>
        </p:nvSpPr>
        <p:spPr>
          <a:xfrm>
            <a:off x="3054096" y="2880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tep-title-1"/>
          <p:cNvSpPr txBox="1"/>
          <p:nvPr/>
        </p:nvSpPr>
        <p:spPr>
          <a:xfrm>
            <a:off x="3054096" y="3474720"/>
            <a:ext cx="1499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with engineering</a:t>
            </a:r>
            <a:endParaRPr lang="en-US" sz="1350" dirty="0"/>
          </a:p>
        </p:txBody>
      </p:sp>
      <p:sp>
        <p:nvSpPr>
          <p:cNvPr id="13" name="step-text-1"/>
          <p:cNvSpPr txBox="1"/>
          <p:nvPr/>
        </p:nvSpPr>
        <p:spPr>
          <a:xfrm>
            <a:off x="3054096" y="4114800"/>
            <a:ext cx="1499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beside the developers while features are built, instead of handing work over a wall.</a:t>
            </a:r>
            <a:endParaRPr lang="en-US" sz="1100" dirty="0"/>
          </a:p>
        </p:txBody>
      </p:sp>
      <p:sp>
        <p:nvSpPr>
          <p:cNvPr id="14" name="step-2"/>
          <p:cNvSpPr/>
          <p:nvPr/>
        </p:nvSpPr>
        <p:spPr>
          <a:xfrm>
            <a:off x="5010912" y="2606040"/>
            <a:ext cx="2048256" cy="265176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5" name="step-no-bg-2"/>
          <p:cNvSpPr/>
          <p:nvPr/>
        </p:nvSpPr>
        <p:spPr>
          <a:xfrm>
            <a:off x="5285232" y="2880360"/>
            <a:ext cx="438912" cy="43891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6" name="step-no-2"/>
          <p:cNvSpPr txBox="1"/>
          <p:nvPr/>
        </p:nvSpPr>
        <p:spPr>
          <a:xfrm>
            <a:off x="5285232" y="2880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tep-title-2"/>
          <p:cNvSpPr txBox="1"/>
          <p:nvPr/>
        </p:nvSpPr>
        <p:spPr>
          <a:xfrm>
            <a:off x="5285232" y="3474720"/>
            <a:ext cx="1499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in the product</a:t>
            </a:r>
            <a:endParaRPr lang="en-US" sz="1350" dirty="0"/>
          </a:p>
        </p:txBody>
      </p:sp>
      <p:sp>
        <p:nvSpPr>
          <p:cNvPr id="18" name="step-text-2"/>
          <p:cNvSpPr txBox="1"/>
          <p:nvPr/>
        </p:nvSpPr>
        <p:spPr>
          <a:xfrm>
            <a:off x="5285232" y="4114800"/>
            <a:ext cx="1499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the UI in the codebase with CSS, so fixes ship as working screens.</a:t>
            </a:r>
            <a:endParaRPr lang="en-US" sz="1100" dirty="0"/>
          </a:p>
        </p:txBody>
      </p:sp>
      <p:sp>
        <p:nvSpPr>
          <p:cNvPr id="19" name="step-3"/>
          <p:cNvSpPr/>
          <p:nvPr/>
        </p:nvSpPr>
        <p:spPr>
          <a:xfrm>
            <a:off x="7242048" y="2606040"/>
            <a:ext cx="2048256" cy="265176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0" name="step-no-bg-3"/>
          <p:cNvSpPr/>
          <p:nvPr/>
        </p:nvSpPr>
        <p:spPr>
          <a:xfrm>
            <a:off x="7516368" y="2880360"/>
            <a:ext cx="438912" cy="43891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1" name="step-no-3"/>
          <p:cNvSpPr txBox="1"/>
          <p:nvPr/>
        </p:nvSpPr>
        <p:spPr>
          <a:xfrm>
            <a:off x="7516368" y="2880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tep-title-3"/>
          <p:cNvSpPr txBox="1"/>
          <p:nvPr/>
        </p:nvSpPr>
        <p:spPr>
          <a:xfrm>
            <a:off x="7516368" y="3474720"/>
            <a:ext cx="1499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at AI speed</a:t>
            </a:r>
            <a:endParaRPr lang="en-US" sz="1350" dirty="0"/>
          </a:p>
        </p:txBody>
      </p:sp>
      <p:sp>
        <p:nvSpPr>
          <p:cNvPr id="23" name="step-text-3"/>
          <p:cNvSpPr txBox="1"/>
          <p:nvPr/>
        </p:nvSpPr>
        <p:spPr>
          <a:xfrm>
            <a:off x="7516368" y="4114800"/>
            <a:ext cx="1499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brief into screens a client can click, in days rather than weeks.</a:t>
            </a:r>
            <a:endParaRPr lang="en-US" sz="1100" dirty="0"/>
          </a:p>
        </p:txBody>
      </p:sp>
      <p:sp>
        <p:nvSpPr>
          <p:cNvPr id="24" name="step-4"/>
          <p:cNvSpPr/>
          <p:nvPr/>
        </p:nvSpPr>
        <p:spPr>
          <a:xfrm>
            <a:off x="9473184" y="2606040"/>
            <a:ext cx="2048256" cy="265176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5" name="step-no-bg-4"/>
          <p:cNvSpPr/>
          <p:nvPr/>
        </p:nvSpPr>
        <p:spPr>
          <a:xfrm>
            <a:off x="9747504" y="2880360"/>
            <a:ext cx="438912" cy="43891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6" name="step-no-4"/>
          <p:cNvSpPr txBox="1"/>
          <p:nvPr/>
        </p:nvSpPr>
        <p:spPr>
          <a:xfrm>
            <a:off x="9747504" y="2880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step-title-4"/>
          <p:cNvSpPr txBox="1"/>
          <p:nvPr/>
        </p:nvSpPr>
        <p:spPr>
          <a:xfrm>
            <a:off x="9747504" y="3474720"/>
            <a:ext cx="1499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every screen</a:t>
            </a:r>
            <a:endParaRPr lang="en-US" sz="1350" dirty="0"/>
          </a:p>
        </p:txBody>
      </p:sp>
      <p:sp>
        <p:nvSpPr>
          <p:cNvPr id="28" name="step-text-4"/>
          <p:cNvSpPr txBox="1"/>
          <p:nvPr/>
        </p:nvSpPr>
        <p:spPr>
          <a:xfrm>
            <a:off x="9747504" y="4114800"/>
            <a:ext cx="1499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desktop, tablet and phone, until the layout holds up on all of them.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no"/>
          <p:cNvSpPr txBox="1"/>
          <p:nvPr/>
        </p:nvSpPr>
        <p:spPr>
          <a:xfrm>
            <a:off x="1371600" y="21488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5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371600" y="292608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4000" dirty="0"/>
          </a:p>
        </p:txBody>
      </p:sp>
      <p:sp>
        <p:nvSpPr>
          <p:cNvPr id="4" name="section-sub"/>
          <p:cNvSpPr txBox="1"/>
          <p:nvPr/>
        </p:nvSpPr>
        <p:spPr>
          <a:xfrm>
            <a:off x="1371600" y="40690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nine years went, and what I work with</a:t>
            </a:r>
            <a:endParaRPr lang="en-US" sz="1600" dirty="0"/>
          </a:p>
        </p:txBody>
      </p:sp>
      <p:sp>
        <p:nvSpPr>
          <p:cNvPr id="5" name="section-mark-a"/>
          <p:cNvSpPr/>
          <p:nvPr/>
        </p:nvSpPr>
        <p:spPr>
          <a:xfrm>
            <a:off x="1371600" y="5010912"/>
            <a:ext cx="82296" cy="822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section-mark-b"/>
          <p:cNvSpPr/>
          <p:nvPr/>
        </p:nvSpPr>
        <p:spPr>
          <a:xfrm>
            <a:off x="1490472" y="4928616"/>
            <a:ext cx="82296" cy="822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section-mark-c"/>
          <p:cNvSpPr/>
          <p:nvPr/>
        </p:nvSpPr>
        <p:spPr>
          <a:xfrm>
            <a:off x="1609344" y="4846320"/>
            <a:ext cx="82296" cy="82296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EXPERIENCE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4980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years, four chapters</a:t>
            </a:r>
            <a:endParaRPr lang="en-US" sz="3200" dirty="0"/>
          </a:p>
        </p:txBody>
      </p:sp>
      <p:sp>
        <p:nvSpPr>
          <p:cNvPr id="4" name="role-0"/>
          <p:cNvSpPr/>
          <p:nvPr/>
        </p:nvSpPr>
        <p:spPr>
          <a:xfrm>
            <a:off x="548640" y="1691640"/>
            <a:ext cx="11094415" cy="1024128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5" name="role-period-0"/>
          <p:cNvSpPr txBox="1"/>
          <p:nvPr/>
        </p:nvSpPr>
        <p:spPr>
          <a:xfrm>
            <a:off x="822960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 — Present</a:t>
            </a:r>
            <a:endParaRPr lang="en-US" sz="1100" dirty="0"/>
          </a:p>
        </p:txBody>
      </p:sp>
      <p:sp>
        <p:nvSpPr>
          <p:cNvPr id="6" name="role-company-0"/>
          <p:cNvSpPr txBox="1"/>
          <p:nvPr/>
        </p:nvSpPr>
        <p:spPr>
          <a:xfrm>
            <a:off x="82296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Self-employed</a:t>
            </a:r>
            <a:endParaRPr lang="en-US" sz="1100" dirty="0"/>
          </a:p>
        </p:txBody>
      </p:sp>
      <p:sp>
        <p:nvSpPr>
          <p:cNvPr id="7" name="role-title-0"/>
          <p:cNvSpPr txBox="1"/>
          <p:nvPr/>
        </p:nvSpPr>
        <p:spPr>
          <a:xfrm>
            <a:off x="3200400" y="18562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Freelance Product Designer</a:t>
            </a:r>
            <a:endParaRPr lang="en-US" sz="1500" dirty="0"/>
          </a:p>
        </p:txBody>
      </p:sp>
      <p:sp>
        <p:nvSpPr>
          <p:cNvPr id="8" name="role-point-0"/>
          <p:cNvSpPr txBox="1"/>
          <p:nvPr/>
        </p:nvSpPr>
        <p:spPr>
          <a:xfrm>
            <a:off x="3200400" y="2203704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Museum, gold shop and e-ticket systems, plus PonSarYay, my own open-source editor.</a:t>
            </a:r>
            <a:endParaRPr lang="en-US" sz="1200" dirty="0"/>
          </a:p>
        </p:txBody>
      </p:sp>
      <p:sp>
        <p:nvSpPr>
          <p:cNvPr id="9" name="role-1"/>
          <p:cNvSpPr/>
          <p:nvPr/>
        </p:nvSpPr>
        <p:spPr>
          <a:xfrm>
            <a:off x="548640" y="2843784"/>
            <a:ext cx="11094415" cy="1024128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0" name="role-period-1"/>
          <p:cNvSpPr txBox="1"/>
          <p:nvPr/>
        </p:nvSpPr>
        <p:spPr>
          <a:xfrm>
            <a:off x="822960" y="30266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2023 — 2025</a:t>
            </a:r>
            <a:endParaRPr lang="en-US" sz="1100" dirty="0"/>
          </a:p>
        </p:txBody>
      </p:sp>
      <p:sp>
        <p:nvSpPr>
          <p:cNvPr id="11" name="role-company-1"/>
          <p:cNvSpPr txBox="1"/>
          <p:nvPr/>
        </p:nvSpPr>
        <p:spPr>
          <a:xfrm>
            <a:off x="822960" y="33467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Merchant Solutions</a:t>
            </a:r>
            <a:endParaRPr lang="en-US" sz="1100" dirty="0"/>
          </a:p>
        </p:txBody>
      </p:sp>
      <p:sp>
        <p:nvSpPr>
          <p:cNvPr id="12" name="role-title-1"/>
          <p:cNvSpPr txBox="1"/>
          <p:nvPr/>
        </p:nvSpPr>
        <p:spPr>
          <a:xfrm>
            <a:off x="3200400" y="30083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Designer &amp; Frontend Dev</a:t>
            </a:r>
            <a:endParaRPr lang="en-US" sz="1500" dirty="0"/>
          </a:p>
        </p:txBody>
      </p:sp>
      <p:sp>
        <p:nvSpPr>
          <p:cNvPr id="13" name="role-point-1"/>
          <p:cNvSpPr txBox="1"/>
          <p:nvPr/>
        </p:nvSpPr>
        <p:spPr>
          <a:xfrm>
            <a:off x="3200400" y="33558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Axtra POS across web, tablet and mobile; React prototypes for logistics.</a:t>
            </a:r>
            <a:endParaRPr lang="en-US" sz="1200" dirty="0"/>
          </a:p>
        </p:txBody>
      </p:sp>
      <p:sp>
        <p:nvSpPr>
          <p:cNvPr id="14" name="role-2"/>
          <p:cNvSpPr/>
          <p:nvPr/>
        </p:nvSpPr>
        <p:spPr>
          <a:xfrm>
            <a:off x="548640" y="3995928"/>
            <a:ext cx="11094415" cy="1024128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5" name="role-period-2"/>
          <p:cNvSpPr txBox="1"/>
          <p:nvPr/>
        </p:nvSpPr>
        <p:spPr>
          <a:xfrm>
            <a:off x="822960" y="41788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2019 — 2023</a:t>
            </a:r>
            <a:endParaRPr lang="en-US" sz="1100" dirty="0"/>
          </a:p>
        </p:txBody>
      </p:sp>
      <p:sp>
        <p:nvSpPr>
          <p:cNvPr id="16" name="role-company-2"/>
          <p:cNvSpPr txBox="1"/>
          <p:nvPr/>
        </p:nvSpPr>
        <p:spPr>
          <a:xfrm>
            <a:off x="822960" y="44988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Merchant Solutions</a:t>
            </a:r>
            <a:endParaRPr lang="en-US" sz="1100" dirty="0"/>
          </a:p>
        </p:txBody>
      </p:sp>
      <p:sp>
        <p:nvSpPr>
          <p:cNvPr id="17" name="role-title-2"/>
          <p:cNvSpPr txBox="1"/>
          <p:nvPr/>
        </p:nvSpPr>
        <p:spPr>
          <a:xfrm>
            <a:off x="3200400" y="416052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UI/UX Designer</a:t>
            </a:r>
            <a:endParaRPr lang="en-US" sz="1500" dirty="0"/>
          </a:p>
        </p:txBody>
      </p:sp>
      <p:sp>
        <p:nvSpPr>
          <p:cNvPr id="18" name="role-point-2"/>
          <p:cNvSpPr txBox="1"/>
          <p:nvPr/>
        </p:nvSpPr>
        <p:spPr>
          <a:xfrm>
            <a:off x="3200400" y="450799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app, booking and guest systems; built the design system and UI kit.</a:t>
            </a:r>
            <a:endParaRPr lang="en-US" sz="1200" dirty="0"/>
          </a:p>
        </p:txBody>
      </p:sp>
      <p:sp>
        <p:nvSpPr>
          <p:cNvPr id="19" name="role-3"/>
          <p:cNvSpPr/>
          <p:nvPr/>
        </p:nvSpPr>
        <p:spPr>
          <a:xfrm>
            <a:off x="548640" y="5148072"/>
            <a:ext cx="11094415" cy="1024128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0" name="role-period-3"/>
          <p:cNvSpPr txBox="1"/>
          <p:nvPr/>
        </p:nvSpPr>
        <p:spPr>
          <a:xfrm>
            <a:off x="822960" y="5330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2016 — 2019</a:t>
            </a:r>
            <a:endParaRPr lang="en-US" sz="1100" dirty="0"/>
          </a:p>
        </p:txBody>
      </p:sp>
      <p:sp>
        <p:nvSpPr>
          <p:cNvPr id="21" name="role-company-3"/>
          <p:cNvSpPr txBox="1"/>
          <p:nvPr/>
        </p:nvSpPr>
        <p:spPr>
          <a:xfrm>
            <a:off x="822960" y="56509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Narigo Travel and Tour</a:t>
            </a:r>
            <a:endParaRPr lang="en-US" sz="1100" dirty="0"/>
          </a:p>
        </p:txBody>
      </p:sp>
      <p:sp>
        <p:nvSpPr>
          <p:cNvPr id="22" name="role-title-3"/>
          <p:cNvSpPr txBox="1"/>
          <p:nvPr/>
        </p:nvSpPr>
        <p:spPr>
          <a:xfrm>
            <a:off x="3200400" y="531266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&amp; Graphic Designer</a:t>
            </a:r>
            <a:endParaRPr lang="en-US" sz="1500" dirty="0"/>
          </a:p>
        </p:txBody>
      </p:sp>
      <p:sp>
        <p:nvSpPr>
          <p:cNvPr id="23" name="role-point-3"/>
          <p:cNvSpPr txBox="1"/>
          <p:nvPr/>
        </p:nvSpPr>
        <p:spPr>
          <a:xfrm>
            <a:off x="3200400" y="566013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pages from scratch, plus logos, icons and vector illustration.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TOOLKIT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4980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work with</a:t>
            </a:r>
            <a:endParaRPr lang="en-US" sz="3200" dirty="0"/>
          </a:p>
        </p:txBody>
      </p:sp>
      <p:sp>
        <p:nvSpPr>
          <p:cNvPr id="4" name="skill-0"/>
          <p:cNvSpPr/>
          <p:nvPr/>
        </p:nvSpPr>
        <p:spPr>
          <a:xfrm>
            <a:off x="548640" y="1737360"/>
            <a:ext cx="5358384" cy="155448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5" name="skill-title-0"/>
          <p:cNvSpPr txBox="1"/>
          <p:nvPr/>
        </p:nvSpPr>
        <p:spPr>
          <a:xfrm>
            <a:off x="841248" y="197510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&amp; PROTOTYPING</a:t>
            </a:r>
            <a:endParaRPr lang="en-US" sz="1050" dirty="0"/>
          </a:p>
        </p:txBody>
      </p:sp>
      <p:sp>
        <p:nvSpPr>
          <p:cNvPr id="6" name="skill-items-0"/>
          <p:cNvSpPr txBox="1"/>
          <p:nvPr/>
        </p:nvSpPr>
        <p:spPr>
          <a:xfrm>
            <a:off x="841248" y="22860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 · Wireframing · High-fidelity prototyping · Design systems · Design engineering · Vector illustration · Logo &amp; icon design</a:t>
            </a:r>
            <a:endParaRPr lang="en-US" sz="1250" dirty="0"/>
          </a:p>
        </p:txBody>
      </p:sp>
      <p:sp>
        <p:nvSpPr>
          <p:cNvPr id="7" name="skill-1"/>
          <p:cNvSpPr/>
          <p:nvPr/>
        </p:nvSpPr>
        <p:spPr>
          <a:xfrm>
            <a:off x="6281928" y="1737360"/>
            <a:ext cx="5358384" cy="155448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8" name="skill-title-1"/>
          <p:cNvSpPr txBox="1"/>
          <p:nvPr/>
        </p:nvSpPr>
        <p:spPr>
          <a:xfrm>
            <a:off x="6574536" y="197510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1050" dirty="0"/>
          </a:p>
        </p:txBody>
      </p:sp>
      <p:sp>
        <p:nvSpPr>
          <p:cNvPr id="9" name="skill-items-1"/>
          <p:cNvSpPr txBox="1"/>
          <p:nvPr/>
        </p:nvSpPr>
        <p:spPr>
          <a:xfrm>
            <a:off x="6574536" y="22860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CSS/SCSS (expert) · HTML · JavaScript · TypeScript · React · Next.js · React Native · Vue · Svelte · Angular · Vite · Tailwind · Bootstrap</a:t>
            </a:r>
            <a:endParaRPr lang="en-US" sz="1250" dirty="0"/>
          </a:p>
        </p:txBody>
      </p:sp>
      <p:sp>
        <p:nvSpPr>
          <p:cNvPr id="10" name="skill-2"/>
          <p:cNvSpPr/>
          <p:nvPr/>
        </p:nvSpPr>
        <p:spPr>
          <a:xfrm>
            <a:off x="548640" y="3520440"/>
            <a:ext cx="5358384" cy="155448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1" name="skill-title-2"/>
          <p:cNvSpPr txBox="1"/>
          <p:nvPr/>
        </p:nvSpPr>
        <p:spPr>
          <a:xfrm>
            <a:off x="841248" y="375818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</a:t>
            </a:r>
            <a:endParaRPr lang="en-US" sz="1050" dirty="0"/>
          </a:p>
        </p:txBody>
      </p:sp>
      <p:sp>
        <p:nvSpPr>
          <p:cNvPr id="12" name="skill-items-2"/>
          <p:cNvSpPr txBox="1"/>
          <p:nvPr/>
        </p:nvSpPr>
        <p:spPr>
          <a:xfrm>
            <a:off x="841248" y="40690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· Adobe Illustrator · Adobe XD · Framer · Lottie Lab · Gemini · Antigravity · Claude Code · ChatGPT · Git · GitHub · GitLab</a:t>
            </a:r>
            <a:endParaRPr lang="en-US" sz="1250" dirty="0"/>
          </a:p>
        </p:txBody>
      </p:sp>
      <p:sp>
        <p:nvSpPr>
          <p:cNvPr id="13" name="skill-3"/>
          <p:cNvSpPr/>
          <p:nvPr/>
        </p:nvSpPr>
        <p:spPr>
          <a:xfrm>
            <a:off x="6281928" y="3520440"/>
            <a:ext cx="5358384" cy="155448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4" name="skill-title-3"/>
          <p:cNvSpPr txBox="1"/>
          <p:nvPr/>
        </p:nvSpPr>
        <p:spPr>
          <a:xfrm>
            <a:off x="6574536" y="375818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PLATFORMS &amp; DEPLOYMENT</a:t>
            </a:r>
            <a:endParaRPr lang="en-US" sz="1050" dirty="0"/>
          </a:p>
        </p:txBody>
      </p:sp>
      <p:sp>
        <p:nvSpPr>
          <p:cNvPr id="15" name="skill-items-3"/>
          <p:cNvSpPr txBox="1"/>
          <p:nvPr/>
        </p:nvSpPr>
        <p:spPr>
          <a:xfrm>
            <a:off x="6574536" y="40690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· GitHub Pages · Cloudflare · Supabase · Render · Resend</a:t>
            </a:r>
            <a:endParaRPr lang="en-US" sz="1250" dirty="0"/>
          </a:p>
        </p:txBody>
      </p:sp>
      <p:sp>
        <p:nvSpPr>
          <p:cNvPr id="16" name="education"/>
          <p:cNvSpPr txBox="1"/>
          <p:nvPr/>
        </p:nvSpPr>
        <p:spPr>
          <a:xfrm>
            <a:off x="548640" y="55778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 ·  BA in English, Pakokku University  ·  Google UX Design Professional Certificate (in progress)  ·  Foundations of UX Design, Coursera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act-kicker"/>
          <p:cNvSpPr txBox="1"/>
          <p:nvPr/>
        </p:nvSpPr>
        <p:spPr>
          <a:xfrm>
            <a:off x="822960" y="137160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IN TOUCH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210312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work together</a:t>
            </a:r>
            <a:endParaRPr lang="en-US" sz="4800" dirty="0"/>
          </a:p>
        </p:txBody>
      </p:sp>
      <p:sp>
        <p:nvSpPr>
          <p:cNvPr id="4" name="contact-note"/>
          <p:cNvSpPr txBox="1"/>
          <p:nvPr/>
        </p:nvSpPr>
        <p:spPr>
          <a:xfrm>
            <a:off x="822960" y="34290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remote, contract and freelance work, with flexible hours for international teams.</a:t>
            </a:r>
            <a:endParaRPr lang="en-US" sz="1500" dirty="0"/>
          </a:p>
        </p:txBody>
      </p:sp>
      <p:sp>
        <p:nvSpPr>
          <p:cNvPr id="5" name="contact-dot-0"/>
          <p:cNvSpPr/>
          <p:nvPr/>
        </p:nvSpPr>
        <p:spPr>
          <a:xfrm>
            <a:off x="7863840" y="1783080"/>
            <a:ext cx="9144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contact-label-0"/>
          <p:cNvSpPr txBox="1"/>
          <p:nvPr/>
        </p:nvSpPr>
        <p:spPr>
          <a:xfrm>
            <a:off x="8101584" y="158191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950" dirty="0"/>
          </a:p>
        </p:txBody>
      </p:sp>
      <p:sp>
        <p:nvSpPr>
          <p:cNvPr id="7" name="contact-value-0"/>
          <p:cNvSpPr txBox="1"/>
          <p:nvPr/>
        </p:nvSpPr>
        <p:spPr>
          <a:xfrm>
            <a:off x="8101584" y="181965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myathtookhine@gmail.com</a:t>
            </a:r>
            <a:endParaRPr lang="en-US" sz="1300" dirty="0"/>
          </a:p>
        </p:txBody>
      </p:sp>
      <p:sp>
        <p:nvSpPr>
          <p:cNvPr id="8" name="contact-dot-1"/>
          <p:cNvSpPr/>
          <p:nvPr/>
        </p:nvSpPr>
        <p:spPr>
          <a:xfrm>
            <a:off x="7863840" y="2441448"/>
            <a:ext cx="9144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contact-label-1"/>
          <p:cNvSpPr txBox="1"/>
          <p:nvPr/>
        </p:nvSpPr>
        <p:spPr>
          <a:xfrm>
            <a:off x="8101584" y="22402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</a:t>
            </a:r>
            <a:endParaRPr lang="en-US" sz="950" dirty="0"/>
          </a:p>
        </p:txBody>
      </p:sp>
      <p:sp>
        <p:nvSpPr>
          <p:cNvPr id="10" name="contact-value-1"/>
          <p:cNvSpPr txBox="1"/>
          <p:nvPr/>
        </p:nvSpPr>
        <p:spPr>
          <a:xfrm>
            <a:off x="8101584" y="247802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+66 80 414 8062</a:t>
            </a:r>
            <a:endParaRPr lang="en-US" sz="1300" dirty="0"/>
          </a:p>
        </p:txBody>
      </p:sp>
      <p:sp>
        <p:nvSpPr>
          <p:cNvPr id="11" name="contact-dot-2"/>
          <p:cNvSpPr/>
          <p:nvPr/>
        </p:nvSpPr>
        <p:spPr>
          <a:xfrm>
            <a:off x="7863840" y="3099816"/>
            <a:ext cx="9144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contact-label-2"/>
          <p:cNvSpPr txBox="1"/>
          <p:nvPr/>
        </p:nvSpPr>
        <p:spPr>
          <a:xfrm>
            <a:off x="8101584" y="28986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LINKEDIN</a:t>
            </a:r>
            <a:endParaRPr lang="en-US" sz="950" dirty="0"/>
          </a:p>
        </p:txBody>
      </p:sp>
      <p:sp>
        <p:nvSpPr>
          <p:cNvPr id="13" name="contact-value-2"/>
          <p:cNvSpPr txBox="1"/>
          <p:nvPr/>
        </p:nvSpPr>
        <p:spPr>
          <a:xfrm>
            <a:off x="8101584" y="313639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linkedin.com/in/myat-htoo-khaing-084242b3</a:t>
            </a:r>
            <a:endParaRPr lang="en-US" sz="1300" dirty="0"/>
          </a:p>
        </p:txBody>
      </p:sp>
      <p:sp>
        <p:nvSpPr>
          <p:cNvPr id="14" name="contact-dot-3"/>
          <p:cNvSpPr/>
          <p:nvPr/>
        </p:nvSpPr>
        <p:spPr>
          <a:xfrm>
            <a:off x="7863840" y="3758184"/>
            <a:ext cx="9144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5" name="contact-label-3"/>
          <p:cNvSpPr txBox="1"/>
          <p:nvPr/>
        </p:nvSpPr>
        <p:spPr>
          <a:xfrm>
            <a:off x="8101584" y="355701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</a:t>
            </a:r>
            <a:endParaRPr lang="en-US" sz="950" dirty="0"/>
          </a:p>
        </p:txBody>
      </p:sp>
      <p:sp>
        <p:nvSpPr>
          <p:cNvPr id="16" name="contact-value-3"/>
          <p:cNvSpPr txBox="1"/>
          <p:nvPr/>
        </p:nvSpPr>
        <p:spPr>
          <a:xfrm>
            <a:off x="8101584" y="37947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github.com/myathtookhine</a:t>
            </a:r>
            <a:endParaRPr lang="en-US" sz="1300" dirty="0"/>
          </a:p>
        </p:txBody>
      </p:sp>
      <p:sp>
        <p:nvSpPr>
          <p:cNvPr id="17" name="contact-dot-4"/>
          <p:cNvSpPr/>
          <p:nvPr/>
        </p:nvSpPr>
        <p:spPr>
          <a:xfrm>
            <a:off x="7863840" y="4416552"/>
            <a:ext cx="91440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contact-label-4"/>
          <p:cNvSpPr txBox="1"/>
          <p:nvPr/>
        </p:nvSpPr>
        <p:spPr>
          <a:xfrm>
            <a:off x="8101584" y="421538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PORTFOLIO</a:t>
            </a:r>
            <a:endParaRPr lang="en-US" sz="950" dirty="0"/>
          </a:p>
        </p:txBody>
      </p:sp>
      <p:sp>
        <p:nvSpPr>
          <p:cNvPr id="19" name="contact-value-4"/>
          <p:cNvSpPr txBox="1"/>
          <p:nvPr/>
        </p:nvSpPr>
        <p:spPr>
          <a:xfrm>
            <a:off x="8101584" y="445312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myathtookhine.github.io/portfolio-of-mhk</a:t>
            </a:r>
            <a:endParaRPr lang="en-US" sz="1300" dirty="0"/>
          </a:p>
        </p:txBody>
      </p:sp>
      <p:sp>
        <p:nvSpPr>
          <p:cNvPr id="20" name="contact-mark-a"/>
          <p:cNvSpPr/>
          <p:nvPr/>
        </p:nvSpPr>
        <p:spPr>
          <a:xfrm>
            <a:off x="822960" y="4782312"/>
            <a:ext cx="82296" cy="822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1" name="contact-mark-b"/>
          <p:cNvSpPr/>
          <p:nvPr/>
        </p:nvSpPr>
        <p:spPr>
          <a:xfrm>
            <a:off x="941832" y="4700016"/>
            <a:ext cx="82296" cy="822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2" name="contact-mark-c"/>
          <p:cNvSpPr/>
          <p:nvPr/>
        </p:nvSpPr>
        <p:spPr>
          <a:xfrm>
            <a:off x="1060704" y="4617720"/>
            <a:ext cx="82296" cy="82296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MHK Portfolio">
  <a:themeElements>
    <a:clrScheme name="MHK Portfolio">
      <a:dk1>
        <a:srgbClr val="171717"/>
      </a:dk1>
      <a:lt1>
        <a:srgbClr val="F5F5F0"/>
      </a:lt1>
      <a:dk2>
        <a:srgbClr val="202020"/>
      </a:dk2>
      <a:lt2>
        <a:srgbClr val="A3A3A3"/>
      </a:lt2>
      <a:accent1>
        <a:srgbClr val="D26B08"/>
      </a:accent1>
      <a:accent2>
        <a:srgbClr val="A85606"/>
      </a:accent2>
      <a:accent3>
        <a:srgbClr val="2E2E2E"/>
      </a:accent3>
      <a:accent4>
        <a:srgbClr val="262626"/>
      </a:accent4>
      <a:accent5>
        <a:srgbClr val="F5F5F0"/>
      </a:accent5>
      <a:accent6>
        <a:srgbClr val="D26B08"/>
      </a:accent6>
      <a:hlink>
        <a:srgbClr val="D26B08"/>
      </a:hlink>
      <a:folHlink>
        <a:srgbClr val="A85606"/>
      </a:folHlink>
    </a:clrScheme>
    <a:fontScheme name="MHK Portfoli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Myat Htoo Khaing — Product Design Portfolio</dc:title>
  <dc:subject>Product design portfolio</dc:subject>
  <dc:creator>Myat Htoo Khaing</dc:creator>
  <cp:lastModifiedBy>Myat Htoo Khaing</cp:lastModifiedBy>
  <cp:revision>1</cp:revision>
  <dcterms:created xsi:type="dcterms:W3CDTF">2026-10-12T16:19:28Z</dcterms:created>
  <dcterms:modified xsi:type="dcterms:W3CDTF">2026-10-12T16:19:28Z</dcterms:modified>
</cp:coreProperties>
</file>